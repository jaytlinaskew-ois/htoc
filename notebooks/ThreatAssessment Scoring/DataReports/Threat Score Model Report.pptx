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handoutMasterIdLst>
    <p:handoutMasterId r:id="rId15"/>
  </p:handoutMasterIdLst>
  <p:sldIdLst>
    <p:sldId id="261" r:id="rId2"/>
    <p:sldId id="257" r:id="rId3"/>
    <p:sldId id="274" r:id="rId4"/>
    <p:sldId id="271" r:id="rId5"/>
    <p:sldId id="262" r:id="rId6"/>
    <p:sldId id="275" r:id="rId7"/>
    <p:sldId id="263" r:id="rId8"/>
    <p:sldId id="272" r:id="rId9"/>
    <p:sldId id="273" r:id="rId10"/>
    <p:sldId id="276" r:id="rId11"/>
    <p:sldId id="277" r:id="rId12"/>
    <p:sldId id="26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BC89EF96-8CEA-46FF-86C4-4CE0E760980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706" autoAdjust="0"/>
  </p:normalViewPr>
  <p:slideViewPr>
    <p:cSldViewPr snapToGrid="0">
      <p:cViewPr varScale="1">
        <p:scale>
          <a:sx n="111" d="100"/>
          <a:sy n="111" d="100"/>
        </p:scale>
        <p:origin x="594" y="108"/>
      </p:cViewPr>
      <p:guideLst>
        <p:guide pos="3840"/>
        <p:guide orient="horz" pos="216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2" d="100"/>
          <a:sy n="82" d="100"/>
        </p:scale>
        <p:origin x="3852" y="7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9041DB8-B66F-4DC8-A96E-33677E0F90FF}" type="datetimeFigureOut">
              <a:rPr lang="en-US" smtClean="0"/>
              <a:t>12/8/2025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04A0D4-B89B-4ADD-AF9E-38636B40EE4E}" type="slidenum">
              <a:rPr lang="en-US" smtClean="0"/>
              <a:t>‹#›</a:t>
            </a:fld>
            <a:endParaRPr lang="en-US"/>
          </a:p>
        </p:txBody>
      </p:sp>
    </p:spTree>
    <p:extLst>
      <p:ext uri="{BB962C8B-B14F-4D97-AF65-F5344CB8AC3E}">
        <p14:creationId xmlns:p14="http://schemas.microsoft.com/office/powerpoint/2010/main" val="42473891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B49C4A-65AC-492D-9701-81B46C3AD0E4}" type="datetimeFigureOut">
              <a:rPr lang="en-US" smtClean="0"/>
              <a:t>12/8/2025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869989-EB00-4EE7-BCB5-25BDC5BB29F8}" type="slidenum">
              <a:rPr lang="en-US" smtClean="0"/>
              <a:t>‹#›</a:t>
            </a:fld>
            <a:endParaRPr lang="en-US"/>
          </a:p>
        </p:txBody>
      </p:sp>
    </p:spTree>
    <p:extLst>
      <p:ext uri="{BB962C8B-B14F-4D97-AF65-F5344CB8AC3E}">
        <p14:creationId xmlns:p14="http://schemas.microsoft.com/office/powerpoint/2010/main" val="21936361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2869989-EB00-4EE7-BCB5-25BDC5BB29F8}" type="slidenum">
              <a:rPr lang="en-US" smtClean="0"/>
              <a:t>2</a:t>
            </a:fld>
            <a:endParaRPr lang="en-US"/>
          </a:p>
        </p:txBody>
      </p:sp>
    </p:spTree>
    <p:extLst>
      <p:ext uri="{BB962C8B-B14F-4D97-AF65-F5344CB8AC3E}">
        <p14:creationId xmlns:p14="http://schemas.microsoft.com/office/powerpoint/2010/main" val="19803039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5ADB6-01D0-FC4D-A4AB-BB4B140CF5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B14A8E-DAE9-BB2D-D2BE-B6955D5068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AE6C8D-80BC-5ABE-C928-F885294C992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C88FC0A-ACCF-D047-EE1C-C5F444338BDA}"/>
              </a:ext>
            </a:extLst>
          </p:cNvPr>
          <p:cNvSpPr>
            <a:spLocks noGrp="1"/>
          </p:cNvSpPr>
          <p:nvPr>
            <p:ph type="sldNum" sz="quarter" idx="10"/>
          </p:nvPr>
        </p:nvSpPr>
        <p:spPr/>
        <p:txBody>
          <a:bodyPr/>
          <a:lstStyle/>
          <a:p>
            <a:fld id="{82869989-EB00-4EE7-BCB5-25BDC5BB29F8}" type="slidenum">
              <a:rPr lang="en-US" smtClean="0"/>
              <a:t>3</a:t>
            </a:fld>
            <a:endParaRPr lang="en-US"/>
          </a:p>
        </p:txBody>
      </p:sp>
    </p:spTree>
    <p:extLst>
      <p:ext uri="{BB962C8B-B14F-4D97-AF65-F5344CB8AC3E}">
        <p14:creationId xmlns:p14="http://schemas.microsoft.com/office/powerpoint/2010/main" val="30577933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FFFEC-E05E-7730-E6CD-2A2AD488B8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30A6FB-8624-94E7-F4B5-FA7D4F5E18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353742-A542-684F-4867-E11153E4F59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482DECC-553C-841C-54A9-57374EF498EE}"/>
              </a:ext>
            </a:extLst>
          </p:cNvPr>
          <p:cNvSpPr>
            <a:spLocks noGrp="1"/>
          </p:cNvSpPr>
          <p:nvPr>
            <p:ph type="sldNum" sz="quarter" idx="10"/>
          </p:nvPr>
        </p:nvSpPr>
        <p:spPr/>
        <p:txBody>
          <a:bodyPr/>
          <a:lstStyle/>
          <a:p>
            <a:fld id="{82869989-EB00-4EE7-BCB5-25BDC5BB29F8}" type="slidenum">
              <a:rPr lang="en-US" smtClean="0"/>
              <a:t>4</a:t>
            </a:fld>
            <a:endParaRPr lang="en-US"/>
          </a:p>
        </p:txBody>
      </p:sp>
    </p:spTree>
    <p:extLst>
      <p:ext uri="{BB962C8B-B14F-4D97-AF65-F5344CB8AC3E}">
        <p14:creationId xmlns:p14="http://schemas.microsoft.com/office/powerpoint/2010/main" val="42286400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5" name="Group 4"/>
          <p:cNvGrpSpPr/>
          <p:nvPr userDrawn="1"/>
        </p:nvGrpSpPr>
        <p:grpSpPr bwMode="hidden">
          <a:xfrm>
            <a:off x="-1" y="0"/>
            <a:ext cx="12192002" cy="6858000"/>
            <a:chOff x="-1" y="0"/>
            <a:chExt cx="12192002" cy="6858000"/>
          </a:xfrm>
        </p:grpSpPr>
        <p:cxnSp>
          <p:nvCxnSpPr>
            <p:cNvPr id="6" name="Straight Connector 5"/>
            <p:cNvCxnSpPr/>
            <p:nvPr/>
          </p:nvCxnSpPr>
          <p:spPr bwMode="hidden">
            <a:xfrm>
              <a:off x="61019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bwMode="hidden">
            <a:xfrm>
              <a:off x="182933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bwMode="hidden">
            <a:xfrm>
              <a:off x="304847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hidden">
            <a:xfrm>
              <a:off x="426760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548674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670588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792502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914416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1036329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1158243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2819" y="38648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2819" y="1611181"/>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2819" y="2835877"/>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4060573"/>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5285269"/>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650996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23" name="Group 22"/>
            <p:cNvGrpSpPr/>
            <p:nvPr userDrawn="1"/>
          </p:nvGrpSpPr>
          <p:grpSpPr bwMode="hidden">
            <a:xfrm>
              <a:off x="-1" y="0"/>
              <a:ext cx="12192001" cy="6858000"/>
              <a:chOff x="-1" y="0"/>
              <a:chExt cx="12192001" cy="6858000"/>
            </a:xfrm>
          </p:grpSpPr>
          <p:cxnSp>
            <p:nvCxnSpPr>
              <p:cNvPr id="41" name="Straight Connector 40"/>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510650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46" name="Group 45"/>
              <p:cNvGrpSpPr/>
              <p:nvPr/>
            </p:nvGrpSpPr>
            <p:grpSpPr bwMode="hidden">
              <a:xfrm>
                <a:off x="6327885" y="0"/>
                <a:ext cx="5864115" cy="5898673"/>
                <a:chOff x="6327885" y="0"/>
                <a:chExt cx="5864115" cy="5898673"/>
              </a:xfrm>
            </p:grpSpPr>
            <p:cxnSp>
              <p:nvCxnSpPr>
                <p:cNvPr id="52" name="Straight Connector 51"/>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47" name="Straight Connector 46"/>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nvGrpSpPr>
            <p:cNvPr id="24" name="Group 23"/>
            <p:cNvGrpSpPr/>
            <p:nvPr userDrawn="1"/>
          </p:nvGrpSpPr>
          <p:grpSpPr bwMode="hidden">
            <a:xfrm flipH="1">
              <a:off x="0" y="0"/>
              <a:ext cx="12192001" cy="6858000"/>
              <a:chOff x="-1" y="0"/>
              <a:chExt cx="12192001" cy="6858000"/>
            </a:xfrm>
          </p:grpSpPr>
          <p:cxnSp>
            <p:nvCxnSpPr>
              <p:cNvPr id="25" name="Straight Connector 24"/>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515064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30" name="Group 29"/>
              <p:cNvGrpSpPr/>
              <p:nvPr/>
            </p:nvGrpSpPr>
            <p:grpSpPr bwMode="hidden">
              <a:xfrm>
                <a:off x="6327885" y="0"/>
                <a:ext cx="5864115" cy="5898673"/>
                <a:chOff x="6327885" y="0"/>
                <a:chExt cx="5864115" cy="5898673"/>
              </a:xfrm>
            </p:grpSpPr>
            <p:cxnSp>
              <p:nvCxnSpPr>
                <p:cNvPr id="36" name="Straight Connector 35"/>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31" name="Straight Connector 30"/>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le 1"/>
          <p:cNvSpPr>
            <a:spLocks noGrp="1"/>
          </p:cNvSpPr>
          <p:nvPr>
            <p:ph type="ctrTitle"/>
          </p:nvPr>
        </p:nvSpPr>
        <p:spPr>
          <a:xfrm>
            <a:off x="1293845" y="1909346"/>
            <a:ext cx="9604310" cy="3383280"/>
          </a:xfrm>
        </p:spPr>
        <p:txBody>
          <a:bodyPr anchor="b">
            <a:normAutofit/>
          </a:bodyPr>
          <a:lstStyle>
            <a:lvl1pPr algn="l">
              <a:lnSpc>
                <a:spcPct val="76000"/>
              </a:lnSpc>
              <a:defRPr sz="8000" cap="none"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93845" y="5432564"/>
            <a:ext cx="9604310" cy="457200"/>
          </a:xfrm>
        </p:spPr>
        <p:txBody>
          <a:bodyPr>
            <a:normAutofit/>
          </a:bodyPr>
          <a:lstStyle>
            <a:lvl1pPr marL="0" indent="0" algn="l">
              <a:spcBef>
                <a:spcPts val="0"/>
              </a:spcBef>
              <a:buNone/>
              <a:defRPr sz="2000" b="0">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cxnSp>
        <p:nvCxnSpPr>
          <p:cNvPr id="58" name="Straight Connector 57"/>
          <p:cNvCxnSpPr/>
          <p:nvPr userDrawn="1"/>
        </p:nvCxnSpPr>
        <p:spPr>
          <a:xfrm>
            <a:off x="1295400" y="5294175"/>
            <a:ext cx="9601200" cy="0"/>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8862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AE374B5B-21A0-4192-BF4C-38187F1A68D8}" type="datetime1">
              <a:rPr lang="en-US" smtClean="0"/>
              <a:t>12/8/2025</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112444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gradFill flip="none" rotWithShape="1">
          <a:gsLst>
            <a:gs pos="0">
              <a:schemeClr val="accent1"/>
            </a:gs>
            <a:gs pos="97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7" name="Group 6"/>
          <p:cNvGrpSpPr/>
          <p:nvPr userDrawn="1"/>
        </p:nvGrpSpPr>
        <p:grpSpPr bwMode="hidden">
          <a:xfrm>
            <a:off x="-1" y="0"/>
            <a:ext cx="12192002" cy="6858000"/>
            <a:chOff x="-1" y="0"/>
            <a:chExt cx="12192002" cy="6858000"/>
          </a:xfrm>
        </p:grpSpPr>
        <p:cxnSp>
          <p:nvCxnSpPr>
            <p:cNvPr id="8" name="Straight Connector 7"/>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4" name="Group 23"/>
            <p:cNvGrpSpPr/>
            <p:nvPr userDrawn="1"/>
          </p:nvGrpSpPr>
          <p:grpSpPr bwMode="hidden">
            <a:xfrm>
              <a:off x="-1" y="0"/>
              <a:ext cx="12192001" cy="6858000"/>
              <a:chOff x="-1" y="0"/>
              <a:chExt cx="12192001" cy="6858000"/>
            </a:xfrm>
          </p:grpSpPr>
          <p:cxnSp>
            <p:nvCxnSpPr>
              <p:cNvPr id="42" name="Straight Connector 41"/>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7" name="Group 46"/>
              <p:cNvGrpSpPr/>
              <p:nvPr/>
            </p:nvGrpSpPr>
            <p:grpSpPr bwMode="hidden">
              <a:xfrm>
                <a:off x="6327885" y="0"/>
                <a:ext cx="5864115" cy="5898673"/>
                <a:chOff x="6327885" y="0"/>
                <a:chExt cx="5864115" cy="5898673"/>
              </a:xfrm>
            </p:grpSpPr>
            <p:cxnSp>
              <p:nvCxnSpPr>
                <p:cNvPr id="53" name="Straight Connector 52"/>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48" name="Straight Connector 47"/>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5" name="Group 24"/>
            <p:cNvGrpSpPr/>
            <p:nvPr userDrawn="1"/>
          </p:nvGrpSpPr>
          <p:grpSpPr bwMode="hidden">
            <a:xfrm flipH="1">
              <a:off x="0" y="0"/>
              <a:ext cx="12192001" cy="6858000"/>
              <a:chOff x="-1" y="0"/>
              <a:chExt cx="12192001" cy="6858000"/>
            </a:xfrm>
          </p:grpSpPr>
          <p:cxnSp>
            <p:nvCxnSpPr>
              <p:cNvPr id="26" name="Straight Connector 25"/>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1" name="Group 30"/>
              <p:cNvGrpSpPr/>
              <p:nvPr/>
            </p:nvGrpSpPr>
            <p:grpSpPr bwMode="hidden">
              <a:xfrm>
                <a:off x="6327885" y="0"/>
                <a:ext cx="5864115" cy="5898673"/>
                <a:chOff x="6327885" y="0"/>
                <a:chExt cx="5864115" cy="5898673"/>
              </a:xfrm>
            </p:grpSpPr>
            <p:cxnSp>
              <p:nvCxnSpPr>
                <p:cNvPr id="37" name="Straight Connector 36"/>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2" name="Straight Connector 31"/>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le 1"/>
          <p:cNvSpPr>
            <a:spLocks noGrp="1"/>
          </p:cNvSpPr>
          <p:nvPr>
            <p:ph type="title"/>
          </p:nvPr>
        </p:nvSpPr>
        <p:spPr>
          <a:xfrm>
            <a:off x="1295400" y="2541573"/>
            <a:ext cx="9601200" cy="2743200"/>
          </a:xfrm>
        </p:spPr>
        <p:txBody>
          <a:bodyPr anchor="b">
            <a:normAutofit/>
          </a:bodyPr>
          <a:lstStyle>
            <a:lvl1pPr>
              <a:lnSpc>
                <a:spcPct val="85000"/>
              </a:lnSpc>
              <a:defRPr sz="6000" cap="none" baseline="0">
                <a:solidFill>
                  <a:schemeClr val="tx1"/>
                </a:solidFill>
              </a:defRPr>
            </a:lvl1pPr>
          </a:lstStyle>
          <a:p>
            <a:r>
              <a:rPr lang="en-US"/>
              <a:t>Click to edit Master title style</a:t>
            </a:r>
            <a:endParaRPr lang="en-US" dirty="0"/>
          </a:p>
        </p:txBody>
      </p:sp>
      <p:sp>
        <p:nvSpPr>
          <p:cNvPr id="3" name="Text Placeholder 2"/>
          <p:cNvSpPr>
            <a:spLocks noGrp="1"/>
          </p:cNvSpPr>
          <p:nvPr>
            <p:ph type="body" idx="1"/>
          </p:nvPr>
        </p:nvSpPr>
        <p:spPr>
          <a:xfrm>
            <a:off x="1295400" y="5431536"/>
            <a:ext cx="9601200" cy="457200"/>
          </a:xfrm>
        </p:spPr>
        <p:txBody>
          <a:bodyPr>
            <a:normAutofit/>
          </a:bodyPr>
          <a:lstStyle>
            <a:lvl1pPr marL="0" indent="0">
              <a:spcBef>
                <a:spcPts val="0"/>
              </a:spcBef>
              <a:buNone/>
              <a:defRPr sz="2000" b="0">
                <a:solidFill>
                  <a:schemeClr val="tx1"/>
                </a:solidFill>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cxnSp>
        <p:nvCxnSpPr>
          <p:cNvPr id="58" name="Straight Connector 57"/>
          <p:cNvCxnSpPr/>
          <p:nvPr userDrawn="1"/>
        </p:nvCxnSpPr>
        <p:spPr>
          <a:xfrm>
            <a:off x="1295400" y="5294175"/>
            <a:ext cx="96012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677804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95400" y="1981199"/>
            <a:ext cx="4572000" cy="3810001"/>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24600" y="1981199"/>
            <a:ext cx="4572000" cy="3810001"/>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33B5CF7C-B333-48E1-A4A6-83A3C8B73AC0}" type="datetime1">
              <a:rPr lang="en-US" smtClean="0"/>
              <a:t>12/8/2025</a:t>
            </a:fld>
            <a:endParaRPr lang="en-US"/>
          </a:p>
        </p:txBody>
      </p:sp>
      <p:sp>
        <p:nvSpPr>
          <p:cNvPr id="7" name="Slide Number Placeholder 6"/>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4044567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295400" y="1818322"/>
            <a:ext cx="4572000" cy="641350"/>
          </a:xfrm>
        </p:spPr>
        <p:txBody>
          <a:bodyPr anchor="ctr">
            <a:normAutofit/>
          </a:bodyPr>
          <a:lstStyle>
            <a:lvl1pPr marL="0" indent="0">
              <a:spcBef>
                <a:spcPts val="0"/>
              </a:spcBef>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2503713"/>
            <a:ext cx="4572000" cy="3287487"/>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24600" y="1818322"/>
            <a:ext cx="4572000" cy="641350"/>
          </a:xfrm>
        </p:spPr>
        <p:txBody>
          <a:bodyPr anchor="ctr">
            <a:normAutofit/>
          </a:bodyPr>
          <a:lstStyle>
            <a:lvl1pPr marL="0" indent="0">
              <a:spcBef>
                <a:spcPts val="0"/>
              </a:spcBef>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24600" y="2503713"/>
            <a:ext cx="4572000" cy="3287487"/>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dirty="0"/>
              <a:t>Add a footer</a:t>
            </a:r>
          </a:p>
        </p:txBody>
      </p:sp>
      <p:sp>
        <p:nvSpPr>
          <p:cNvPr id="7" name="Date Placeholder 6"/>
          <p:cNvSpPr>
            <a:spLocks noGrp="1"/>
          </p:cNvSpPr>
          <p:nvPr>
            <p:ph type="dt" sz="half" idx="10"/>
          </p:nvPr>
        </p:nvSpPr>
        <p:spPr/>
        <p:txBody>
          <a:bodyPr/>
          <a:lstStyle/>
          <a:p>
            <a:fld id="{AE320762-5CBF-4210-AB54-376B091119F8}" type="datetime1">
              <a:rPr lang="en-US" smtClean="0"/>
              <a:t>12/8/2025</a:t>
            </a:fld>
            <a:endParaRPr lang="en-US"/>
          </a:p>
        </p:txBody>
      </p:sp>
      <p:sp>
        <p:nvSpPr>
          <p:cNvPr id="9" name="Slide Number Placeholder 8"/>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397906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r>
              <a:rPr lang="en-US" dirty="0"/>
              <a:t>Add a footer</a:t>
            </a:r>
          </a:p>
        </p:txBody>
      </p:sp>
      <p:sp>
        <p:nvSpPr>
          <p:cNvPr id="3" name="Date Placeholder 2"/>
          <p:cNvSpPr>
            <a:spLocks noGrp="1"/>
          </p:cNvSpPr>
          <p:nvPr>
            <p:ph type="dt" sz="half" idx="10"/>
          </p:nvPr>
        </p:nvSpPr>
        <p:spPr/>
        <p:txBody>
          <a:bodyPr/>
          <a:lstStyle/>
          <a:p>
            <a:fld id="{7F0DB371-BF5F-4058-A212-1A908E4D2674}" type="datetime1">
              <a:rPr lang="en-US" smtClean="0"/>
              <a:t>12/8/2025</a:t>
            </a:fld>
            <a:endParaRPr lang="en-US"/>
          </a:p>
        </p:txBody>
      </p:sp>
      <p:sp>
        <p:nvSpPr>
          <p:cNvPr id="5" name="Slide Number Placeholder 4"/>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238976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pSp>
        <p:nvGrpSpPr>
          <p:cNvPr id="161" name="Group 160"/>
          <p:cNvGrpSpPr/>
          <p:nvPr userDrawn="1"/>
        </p:nvGrpSpPr>
        <p:grpSpPr bwMode="hidden">
          <a:xfrm>
            <a:off x="-1" y="0"/>
            <a:ext cx="12192002" cy="6858000"/>
            <a:chOff x="-1" y="0"/>
            <a:chExt cx="12192002" cy="6858000"/>
          </a:xfrm>
        </p:grpSpPr>
        <p:cxnSp>
          <p:nvCxnSpPr>
            <p:cNvPr id="162" name="Straight Connector 161"/>
            <p:cNvCxnSpPr/>
            <p:nvPr/>
          </p:nvCxnSpPr>
          <p:spPr bwMode="hidden">
            <a:xfrm>
              <a:off x="610194"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3" name="Straight Connector 162"/>
            <p:cNvCxnSpPr/>
            <p:nvPr/>
          </p:nvCxnSpPr>
          <p:spPr bwMode="hidden">
            <a:xfrm>
              <a:off x="1829332"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4" name="Straight Connector 163"/>
            <p:cNvCxnSpPr/>
            <p:nvPr/>
          </p:nvCxnSpPr>
          <p:spPr bwMode="hidden">
            <a:xfrm>
              <a:off x="3048470"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5" name="Straight Connector 164"/>
            <p:cNvCxnSpPr/>
            <p:nvPr/>
          </p:nvCxnSpPr>
          <p:spPr bwMode="hidden">
            <a:xfrm>
              <a:off x="4267608"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6" name="Straight Connector 165"/>
            <p:cNvCxnSpPr/>
            <p:nvPr/>
          </p:nvCxnSpPr>
          <p:spPr bwMode="hidden">
            <a:xfrm>
              <a:off x="5486746"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p:cNvCxnSpPr/>
            <p:nvPr/>
          </p:nvCxnSpPr>
          <p:spPr bwMode="hidden">
            <a:xfrm>
              <a:off x="6705884"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8" name="Straight Connector 167"/>
            <p:cNvCxnSpPr/>
            <p:nvPr/>
          </p:nvCxnSpPr>
          <p:spPr bwMode="hidden">
            <a:xfrm>
              <a:off x="7925022"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9" name="Straight Connector 168"/>
            <p:cNvCxnSpPr/>
            <p:nvPr/>
          </p:nvCxnSpPr>
          <p:spPr bwMode="hidden">
            <a:xfrm>
              <a:off x="9144160"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p:cNvCxnSpPr/>
            <p:nvPr/>
          </p:nvCxnSpPr>
          <p:spPr bwMode="hidden">
            <a:xfrm>
              <a:off x="10363298"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bwMode="hidden">
            <a:xfrm>
              <a:off x="11582436"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bwMode="hidden">
            <a:xfrm>
              <a:off x="2819" y="386485"/>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bwMode="hidden">
            <a:xfrm>
              <a:off x="2819" y="1611181"/>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bwMode="hidden">
            <a:xfrm>
              <a:off x="2819" y="2835877"/>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bwMode="hidden">
            <a:xfrm>
              <a:off x="2819" y="4060573"/>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bwMode="hidden">
            <a:xfrm>
              <a:off x="2819" y="5285269"/>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bwMode="hidden">
            <a:xfrm>
              <a:off x="2819" y="6509965"/>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178" name="Group 177"/>
            <p:cNvGrpSpPr/>
            <p:nvPr userDrawn="1"/>
          </p:nvGrpSpPr>
          <p:grpSpPr bwMode="hidden">
            <a:xfrm>
              <a:off x="-1" y="0"/>
              <a:ext cx="12192001" cy="6858000"/>
              <a:chOff x="-1" y="0"/>
              <a:chExt cx="12192001" cy="6858000"/>
            </a:xfrm>
          </p:grpSpPr>
          <p:cxnSp>
            <p:nvCxnSpPr>
              <p:cNvPr id="196" name="Straight Connector 195"/>
              <p:cNvCxnSpPr/>
              <p:nvPr/>
            </p:nvCxnSpPr>
            <p:spPr bwMode="hidden">
              <a:xfrm>
                <a:off x="225425"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p:cNvCxnSpPr/>
              <p:nvPr/>
            </p:nvCxnSpPr>
            <p:spPr bwMode="hidden">
              <a:xfrm>
                <a:off x="1449154"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8" name="Straight Connector 197"/>
              <p:cNvCxnSpPr/>
              <p:nvPr/>
            </p:nvCxnSpPr>
            <p:spPr bwMode="hidden">
              <a:xfrm>
                <a:off x="266598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9" name="Straight Connector 198"/>
              <p:cNvCxnSpPr/>
              <p:nvPr/>
            </p:nvCxnSpPr>
            <p:spPr bwMode="hidden">
              <a:xfrm>
                <a:off x="3885119"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p:cNvCxnSpPr/>
              <p:nvPr/>
            </p:nvCxnSpPr>
            <p:spPr bwMode="hidden">
              <a:xfrm>
                <a:off x="510650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201" name="Group 200"/>
              <p:cNvGrpSpPr/>
              <p:nvPr/>
            </p:nvGrpSpPr>
            <p:grpSpPr bwMode="hidden">
              <a:xfrm>
                <a:off x="6327885" y="0"/>
                <a:ext cx="5864115" cy="5898673"/>
                <a:chOff x="6327885" y="0"/>
                <a:chExt cx="5864115" cy="5898673"/>
              </a:xfrm>
            </p:grpSpPr>
            <p:cxnSp>
              <p:nvCxnSpPr>
                <p:cNvPr id="207" name="Straight Connector 206"/>
                <p:cNvCxnSpPr/>
                <p:nvPr/>
              </p:nvCxnSpPr>
              <p:spPr bwMode="hidden">
                <a:xfrm>
                  <a:off x="6327885" y="0"/>
                  <a:ext cx="5864115" cy="5898673"/>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8" name="Straight Connector 207"/>
                <p:cNvCxnSpPr/>
                <p:nvPr/>
              </p:nvCxnSpPr>
              <p:spPr bwMode="hidden">
                <a:xfrm>
                  <a:off x="7549268" y="0"/>
                  <a:ext cx="4642732" cy="467242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9" name="Straight Connector 208"/>
                <p:cNvCxnSpPr/>
                <p:nvPr/>
              </p:nvCxnSpPr>
              <p:spPr bwMode="hidden">
                <a:xfrm>
                  <a:off x="8772997" y="0"/>
                  <a:ext cx="3419003" cy="34567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10" name="Straight Connector 209"/>
                <p:cNvCxnSpPr/>
                <p:nvPr/>
              </p:nvCxnSpPr>
              <p:spPr bwMode="hidden">
                <a:xfrm>
                  <a:off x="9982200" y="0"/>
                  <a:ext cx="2209800" cy="222646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11" name="Straight Connector 210"/>
                <p:cNvCxnSpPr/>
                <p:nvPr/>
              </p:nvCxnSpPr>
              <p:spPr bwMode="hidden">
                <a:xfrm>
                  <a:off x="11199019" y="0"/>
                  <a:ext cx="992981" cy="1002506"/>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cxnSp>
            <p:nvCxnSpPr>
              <p:cNvPr id="202" name="Straight Connector 201"/>
              <p:cNvCxnSpPr/>
              <p:nvPr/>
            </p:nvCxnSpPr>
            <p:spPr bwMode="hidden">
              <a:xfrm flipH="1" flipV="1">
                <a:off x="-1" y="1012053"/>
                <a:ext cx="5828811" cy="58459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3" name="Straight Connector 202"/>
              <p:cNvCxnSpPr/>
              <p:nvPr/>
            </p:nvCxnSpPr>
            <p:spPr bwMode="hidden">
              <a:xfrm flipH="1" flipV="1">
                <a:off x="-1" y="2227340"/>
                <a:ext cx="4614781" cy="4630658"/>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4" name="Straight Connector 203"/>
              <p:cNvCxnSpPr/>
              <p:nvPr/>
            </p:nvCxnSpPr>
            <p:spPr bwMode="hidden">
              <a:xfrm flipH="1" flipV="1">
                <a:off x="-1" y="3432149"/>
                <a:ext cx="3398419" cy="34258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5" name="Straight Connector 204"/>
              <p:cNvCxnSpPr/>
              <p:nvPr/>
            </p:nvCxnSpPr>
            <p:spPr bwMode="hidden">
              <a:xfrm flipH="1" flipV="1">
                <a:off x="-1" y="4651431"/>
                <a:ext cx="2196496" cy="2206567"/>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6" name="Straight Connector 205"/>
              <p:cNvCxnSpPr/>
              <p:nvPr/>
            </p:nvCxnSpPr>
            <p:spPr bwMode="hidden">
              <a:xfrm flipH="1" flipV="1">
                <a:off x="-1" y="5864453"/>
                <a:ext cx="987003" cy="9935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grpSp>
          <p:nvGrpSpPr>
            <p:cNvPr id="179" name="Group 178"/>
            <p:cNvGrpSpPr/>
            <p:nvPr userDrawn="1"/>
          </p:nvGrpSpPr>
          <p:grpSpPr bwMode="hidden">
            <a:xfrm flipH="1">
              <a:off x="0" y="0"/>
              <a:ext cx="12192001" cy="6858000"/>
              <a:chOff x="-1" y="0"/>
              <a:chExt cx="12192001" cy="6858000"/>
            </a:xfrm>
          </p:grpSpPr>
          <p:cxnSp>
            <p:nvCxnSpPr>
              <p:cNvPr id="180" name="Straight Connector 179"/>
              <p:cNvCxnSpPr/>
              <p:nvPr/>
            </p:nvCxnSpPr>
            <p:spPr bwMode="hidden">
              <a:xfrm>
                <a:off x="225425"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bwMode="hidden">
              <a:xfrm>
                <a:off x="1449154"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bwMode="hidden">
              <a:xfrm>
                <a:off x="266598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bwMode="hidden">
              <a:xfrm>
                <a:off x="3885119"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bwMode="hidden">
              <a:xfrm>
                <a:off x="510650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185" name="Group 184"/>
              <p:cNvGrpSpPr/>
              <p:nvPr/>
            </p:nvGrpSpPr>
            <p:grpSpPr bwMode="hidden">
              <a:xfrm>
                <a:off x="6327885" y="0"/>
                <a:ext cx="5864115" cy="5898673"/>
                <a:chOff x="6327885" y="0"/>
                <a:chExt cx="5864115" cy="5898673"/>
              </a:xfrm>
            </p:grpSpPr>
            <p:cxnSp>
              <p:nvCxnSpPr>
                <p:cNvPr id="191" name="Straight Connector 190"/>
                <p:cNvCxnSpPr/>
                <p:nvPr/>
              </p:nvCxnSpPr>
              <p:spPr bwMode="hidden">
                <a:xfrm>
                  <a:off x="6327885" y="0"/>
                  <a:ext cx="5864115" cy="5898673"/>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2" name="Straight Connector 191"/>
                <p:cNvCxnSpPr/>
                <p:nvPr/>
              </p:nvCxnSpPr>
              <p:spPr bwMode="hidden">
                <a:xfrm>
                  <a:off x="7549268" y="0"/>
                  <a:ext cx="4642732" cy="467242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3" name="Straight Connector 192"/>
                <p:cNvCxnSpPr/>
                <p:nvPr/>
              </p:nvCxnSpPr>
              <p:spPr bwMode="hidden">
                <a:xfrm>
                  <a:off x="8772997" y="0"/>
                  <a:ext cx="3419003" cy="34567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p:cNvCxnSpPr/>
                <p:nvPr/>
              </p:nvCxnSpPr>
              <p:spPr bwMode="hidden">
                <a:xfrm>
                  <a:off x="9982200" y="0"/>
                  <a:ext cx="2209800" cy="222646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5" name="Straight Connector 194"/>
                <p:cNvCxnSpPr/>
                <p:nvPr/>
              </p:nvCxnSpPr>
              <p:spPr bwMode="hidden">
                <a:xfrm>
                  <a:off x="11199019" y="0"/>
                  <a:ext cx="992981" cy="1002506"/>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cxnSp>
            <p:nvCxnSpPr>
              <p:cNvPr id="186" name="Straight Connector 185"/>
              <p:cNvCxnSpPr/>
              <p:nvPr/>
            </p:nvCxnSpPr>
            <p:spPr bwMode="hidden">
              <a:xfrm flipH="1" flipV="1">
                <a:off x="-1" y="1012053"/>
                <a:ext cx="5828811" cy="58459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bwMode="hidden">
              <a:xfrm flipH="1" flipV="1">
                <a:off x="-1" y="2227340"/>
                <a:ext cx="4614781" cy="4630658"/>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bwMode="hidden">
              <a:xfrm flipH="1" flipV="1">
                <a:off x="-1" y="3432149"/>
                <a:ext cx="3398419" cy="34258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bwMode="hidden">
              <a:xfrm flipH="1" flipV="1">
                <a:off x="-1" y="4651431"/>
                <a:ext cx="2196496" cy="2206567"/>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0" name="Straight Connector 189"/>
              <p:cNvCxnSpPr/>
              <p:nvPr/>
            </p:nvCxnSpPr>
            <p:spPr bwMode="hidden">
              <a:xfrm flipH="1" flipV="1">
                <a:off x="-1" y="5864453"/>
                <a:ext cx="987003" cy="9935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grpSp>
      <p:sp>
        <p:nvSpPr>
          <p:cNvPr id="213" name="Footer Placeholder 212"/>
          <p:cNvSpPr>
            <a:spLocks noGrp="1"/>
          </p:cNvSpPr>
          <p:nvPr>
            <p:ph type="ftr" sz="quarter" idx="11"/>
          </p:nvPr>
        </p:nvSpPr>
        <p:spPr/>
        <p:txBody>
          <a:bodyPr/>
          <a:lstStyle/>
          <a:p>
            <a:r>
              <a:rPr lang="en-US" dirty="0"/>
              <a:t>Add a footer</a:t>
            </a:r>
          </a:p>
        </p:txBody>
      </p:sp>
      <p:sp>
        <p:nvSpPr>
          <p:cNvPr id="212" name="Date Placeholder 211"/>
          <p:cNvSpPr>
            <a:spLocks noGrp="1"/>
          </p:cNvSpPr>
          <p:nvPr>
            <p:ph type="dt" sz="half" idx="10"/>
          </p:nvPr>
        </p:nvSpPr>
        <p:spPr/>
        <p:txBody>
          <a:bodyPr/>
          <a:lstStyle/>
          <a:p>
            <a:fld id="{60A4083B-90AA-48CF-BAD5-00AA24D7F288}" type="datetime1">
              <a:rPr lang="en-US" smtClean="0"/>
              <a:t>12/8/2025</a:t>
            </a:fld>
            <a:endParaRPr lang="en-US"/>
          </a:p>
        </p:txBody>
      </p:sp>
      <p:sp>
        <p:nvSpPr>
          <p:cNvPr id="214" name="Slide Number Placeholder 213"/>
          <p:cNvSpPr>
            <a:spLocks noGrp="1"/>
          </p:cNvSpPr>
          <p:nvPr>
            <p:ph type="sldNum" sz="quarter" idx="12"/>
          </p:nvPr>
        </p:nvSpPr>
        <p:spPr/>
        <p:txBody>
          <a:bodyPr/>
          <a:lstStyle/>
          <a:p>
            <a:fld id="{E31375A4-56A4-47D6-9801-1991572033F7}" type="slidenum">
              <a:rPr lang="en-US" smtClean="0"/>
              <a:pPr/>
              <a:t>‹#›</a:t>
            </a:fld>
            <a:endParaRPr lang="en-US"/>
          </a:p>
        </p:txBody>
      </p:sp>
    </p:spTree>
    <p:extLst>
      <p:ext uri="{BB962C8B-B14F-4D97-AF65-F5344CB8AC3E}">
        <p14:creationId xmlns:p14="http://schemas.microsoft.com/office/powerpoint/2010/main" val="2146817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9" name="Group 8"/>
          <p:cNvGrpSpPr/>
          <p:nvPr userDrawn="1"/>
        </p:nvGrpSpPr>
        <p:grpSpPr bwMode="hidden">
          <a:xfrm>
            <a:off x="-1" y="0"/>
            <a:ext cx="12192002" cy="6858000"/>
            <a:chOff x="-1" y="0"/>
            <a:chExt cx="12192002" cy="6858000"/>
          </a:xfrm>
        </p:grpSpPr>
        <p:cxnSp>
          <p:nvCxnSpPr>
            <p:cNvPr id="10" name="Straight Connector 9"/>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6" name="Group 25"/>
            <p:cNvGrpSpPr/>
            <p:nvPr userDrawn="1"/>
          </p:nvGrpSpPr>
          <p:grpSpPr bwMode="hidden">
            <a:xfrm>
              <a:off x="-1" y="0"/>
              <a:ext cx="12192001" cy="6858000"/>
              <a:chOff x="-1" y="0"/>
              <a:chExt cx="12192001" cy="6858000"/>
            </a:xfrm>
          </p:grpSpPr>
          <p:cxnSp>
            <p:nvCxnSpPr>
              <p:cNvPr id="44" name="Straight Connector 43"/>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9" name="Group 48"/>
              <p:cNvGrpSpPr/>
              <p:nvPr/>
            </p:nvGrpSpPr>
            <p:grpSpPr bwMode="hidden">
              <a:xfrm>
                <a:off x="6327885" y="0"/>
                <a:ext cx="5864115" cy="5898673"/>
                <a:chOff x="6327885" y="0"/>
                <a:chExt cx="5864115" cy="5898673"/>
              </a:xfrm>
            </p:grpSpPr>
            <p:cxnSp>
              <p:nvCxnSpPr>
                <p:cNvPr id="55" name="Straight Connector 54"/>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50" name="Straight Connector 49"/>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7" name="Group 26"/>
            <p:cNvGrpSpPr/>
            <p:nvPr userDrawn="1"/>
          </p:nvGrpSpPr>
          <p:grpSpPr bwMode="hidden">
            <a:xfrm flipH="1">
              <a:off x="0" y="0"/>
              <a:ext cx="12192001" cy="6858000"/>
              <a:chOff x="-1" y="0"/>
              <a:chExt cx="12192001" cy="6858000"/>
            </a:xfrm>
          </p:grpSpPr>
          <p:cxnSp>
            <p:nvCxnSpPr>
              <p:cNvPr id="28" name="Straight Connector 27"/>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3" name="Group 32"/>
              <p:cNvGrpSpPr/>
              <p:nvPr/>
            </p:nvGrpSpPr>
            <p:grpSpPr bwMode="hidden">
              <a:xfrm>
                <a:off x="6327885" y="0"/>
                <a:ext cx="5864115" cy="5898673"/>
                <a:chOff x="6327885" y="0"/>
                <a:chExt cx="5864115" cy="5898673"/>
              </a:xfrm>
            </p:grpSpPr>
            <p:cxnSp>
              <p:nvCxnSpPr>
                <p:cNvPr id="39" name="Straight Connector 38"/>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4" name="Straight Connector 33"/>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7" name="Rectangle 6"/>
          <p:cNvSpPr/>
          <p:nvPr userDrawn="1"/>
        </p:nvSpPr>
        <p:spPr>
          <a:xfrm>
            <a:off x="0" y="0"/>
            <a:ext cx="7315200"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913152" y="571500"/>
            <a:ext cx="3657600" cy="2197100"/>
          </a:xfrm>
        </p:spPr>
        <p:txBody>
          <a:bodyPr anchor="b">
            <a:normAutofit/>
          </a:bodyPr>
          <a:lstStyle>
            <a:lvl1pPr>
              <a:defRPr sz="2600">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543197" y="571500"/>
            <a:ext cx="6217920" cy="5715000"/>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913152" y="2995012"/>
            <a:ext cx="3657600" cy="2285950"/>
          </a:xfrm>
        </p:spPr>
        <p:txBody>
          <a:bodyPr>
            <a:normAutofit/>
          </a:bodyPr>
          <a:lstStyle>
            <a:lvl1pPr marL="0" indent="0">
              <a:spcBef>
                <a:spcPts val="1200"/>
              </a:spcBef>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cxnSp>
        <p:nvCxnSpPr>
          <p:cNvPr id="60" name="Straight Connector 59"/>
          <p:cNvCxnSpPr/>
          <p:nvPr userDrawn="1"/>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lvl1pPr>
              <a:defRPr>
                <a:solidFill>
                  <a:schemeClr val="bg1"/>
                </a:solidFill>
              </a:defRPr>
            </a:lvl1pPr>
          </a:lstStyle>
          <a:p>
            <a:fld id="{F5BAF629-ECA2-4CF3-B790-9D9BDED98269}" type="datetime1">
              <a:rPr lang="en-US" smtClean="0"/>
              <a:pPr/>
              <a:t>12/8/2025</a:t>
            </a:fld>
            <a:endParaRPr lang="en-US"/>
          </a:p>
        </p:txBody>
      </p:sp>
      <p:sp>
        <p:nvSpPr>
          <p:cNvPr id="8" name="Slide Number Placeholder 7"/>
          <p:cNvSpPr>
            <a:spLocks noGrp="1"/>
          </p:cNvSpPr>
          <p:nvPr>
            <p:ph type="sldNum" sz="quarter" idx="12"/>
          </p:nvPr>
        </p:nvSpPr>
        <p:spPr/>
        <p:txBody>
          <a:bodyPr/>
          <a:lstStyle>
            <a:lvl1pPr>
              <a:defRPr>
                <a:solidFill>
                  <a:schemeClr val="bg1"/>
                </a:solidFill>
              </a:defRPr>
            </a:lvl1pPr>
          </a:lstStyle>
          <a:p>
            <a:fld id="{E31375A4-56A4-47D6-9801-1991572033F7}" type="slidenum">
              <a:rPr lang="en-US" smtClean="0"/>
              <a:pPr/>
              <a:t>‹#›</a:t>
            </a:fld>
            <a:endParaRPr lang="en-US"/>
          </a:p>
        </p:txBody>
      </p:sp>
    </p:spTree>
    <p:extLst>
      <p:ext uri="{BB962C8B-B14F-4D97-AF65-F5344CB8AC3E}">
        <p14:creationId xmlns:p14="http://schemas.microsoft.com/office/powerpoint/2010/main" val="1667374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8" name="Group 7"/>
          <p:cNvGrpSpPr/>
          <p:nvPr/>
        </p:nvGrpSpPr>
        <p:grpSpPr bwMode="hidden">
          <a:xfrm>
            <a:off x="-1" y="0"/>
            <a:ext cx="12192002" cy="6858000"/>
            <a:chOff x="-1" y="0"/>
            <a:chExt cx="12192002" cy="6858000"/>
          </a:xfrm>
        </p:grpSpPr>
        <p:cxnSp>
          <p:nvCxnSpPr>
            <p:cNvPr id="9" name="Straight Connector 8"/>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5" name="Group 24"/>
            <p:cNvGrpSpPr/>
            <p:nvPr/>
          </p:nvGrpSpPr>
          <p:grpSpPr bwMode="hidden">
            <a:xfrm>
              <a:off x="-1" y="0"/>
              <a:ext cx="12192001" cy="6858000"/>
              <a:chOff x="-1" y="0"/>
              <a:chExt cx="12192001" cy="6858000"/>
            </a:xfrm>
          </p:grpSpPr>
          <p:cxnSp>
            <p:nvCxnSpPr>
              <p:cNvPr id="43" name="Straight Connector 42"/>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8" name="Group 47"/>
              <p:cNvGrpSpPr/>
              <p:nvPr/>
            </p:nvGrpSpPr>
            <p:grpSpPr bwMode="hidden">
              <a:xfrm>
                <a:off x="6327885" y="0"/>
                <a:ext cx="5864115" cy="5898673"/>
                <a:chOff x="6327885" y="0"/>
                <a:chExt cx="5864115" cy="5898673"/>
              </a:xfrm>
            </p:grpSpPr>
            <p:cxnSp>
              <p:nvCxnSpPr>
                <p:cNvPr id="54" name="Straight Connector 53"/>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49" name="Straight Connector 48"/>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6" name="Group 25"/>
            <p:cNvGrpSpPr/>
            <p:nvPr/>
          </p:nvGrpSpPr>
          <p:grpSpPr bwMode="hidden">
            <a:xfrm flipH="1">
              <a:off x="0" y="0"/>
              <a:ext cx="12192001" cy="6858000"/>
              <a:chOff x="-1" y="0"/>
              <a:chExt cx="12192001" cy="6858000"/>
            </a:xfrm>
          </p:grpSpPr>
          <p:cxnSp>
            <p:nvCxnSpPr>
              <p:cNvPr id="27" name="Straight Connector 26"/>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2" name="Group 31"/>
              <p:cNvGrpSpPr/>
              <p:nvPr/>
            </p:nvGrpSpPr>
            <p:grpSpPr bwMode="hidden">
              <a:xfrm>
                <a:off x="6327885" y="0"/>
                <a:ext cx="5864115" cy="5898673"/>
                <a:chOff x="6327885" y="0"/>
                <a:chExt cx="5864115" cy="5898673"/>
              </a:xfrm>
            </p:grpSpPr>
            <p:cxnSp>
              <p:nvCxnSpPr>
                <p:cNvPr id="38" name="Straight Connector 37"/>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3" name="Straight Connector 32"/>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60" name="Rectangle 59"/>
          <p:cNvSpPr/>
          <p:nvPr/>
        </p:nvSpPr>
        <p:spPr>
          <a:xfrm>
            <a:off x="0" y="0"/>
            <a:ext cx="7315200"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9" name="Straight Connector 58"/>
          <p:cNvCxnSpPr/>
          <p:nvPr/>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7909560" y="576072"/>
            <a:ext cx="3657600" cy="2194560"/>
          </a:xfrm>
        </p:spPr>
        <p:txBody>
          <a:bodyPr anchor="b">
            <a:normAutofit/>
          </a:bodyPr>
          <a:lstStyle>
            <a:lvl1pPr>
              <a:defRPr sz="2600">
                <a:solidFill>
                  <a:schemeClr val="bg1"/>
                </a:solidFill>
              </a:defRPr>
            </a:lvl1pPr>
          </a:lstStyle>
          <a:p>
            <a:r>
              <a:rPr lang="en-US"/>
              <a:t>Click to edit Master title style</a:t>
            </a:r>
          </a:p>
        </p:txBody>
      </p:sp>
      <p:sp>
        <p:nvSpPr>
          <p:cNvPr id="3" name="Picture Placeholder 2" descr="An empty placeholder to add an image. Click on the placeholder and select the image that you wish to add."/>
          <p:cNvSpPr>
            <a:spLocks noGrp="1"/>
          </p:cNvSpPr>
          <p:nvPr>
            <p:ph type="pic" idx="1"/>
          </p:nvPr>
        </p:nvSpPr>
        <p:spPr>
          <a:xfrm>
            <a:off x="4412" y="-159"/>
            <a:ext cx="7315200" cy="6858000"/>
          </a:xfrm>
        </p:spPr>
        <p:txBody>
          <a:bodyPr tIns="45720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7909560" y="2999232"/>
            <a:ext cx="3657600" cy="2286000"/>
          </a:xfrm>
        </p:spPr>
        <p:txBody>
          <a:bodyPr/>
          <a:lstStyle>
            <a:lvl1pPr marL="0" indent="0">
              <a:spcBef>
                <a:spcPts val="1200"/>
              </a:spcBef>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620318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384A29A4-78C8-47AB-BA06-22CB45938951}" type="datetime1">
              <a:rPr lang="en-US" smtClean="0"/>
              <a:t>12/8/2025</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477154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09314" y="489856"/>
            <a:ext cx="1687286" cy="530134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9" y="489856"/>
            <a:ext cx="7587344" cy="530134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E1ED4ACF-2D82-46F2-A8E9-23963AA34E86}" type="datetime1">
              <a:rPr lang="en-US" smtClean="0"/>
              <a:t>12/8/2025</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524635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53000">
              <a:schemeClr val="bg1"/>
            </a:gs>
            <a:gs pos="0">
              <a:schemeClr val="bg1">
                <a:lumMod val="100000"/>
              </a:schemeClr>
            </a:gs>
            <a:gs pos="100000">
              <a:schemeClr val="bg1">
                <a:lumMod val="95000"/>
                <a:alpha val="65000"/>
              </a:schemeClr>
            </a:gs>
          </a:gsLst>
          <a:lin ang="5400000" scaled="1"/>
          <a:tileRect/>
        </a:gradFill>
        <a:effectLst/>
      </p:bgPr>
    </p:bg>
    <p:spTree>
      <p:nvGrpSpPr>
        <p:cNvPr id="1" name=""/>
        <p:cNvGrpSpPr/>
        <p:nvPr/>
      </p:nvGrpSpPr>
      <p:grpSpPr>
        <a:xfrm>
          <a:off x="0" y="0"/>
          <a:ext cx="0" cy="0"/>
          <a:chOff x="0" y="0"/>
          <a:chExt cx="0" cy="0"/>
        </a:xfrm>
      </p:grpSpPr>
      <p:grpSp>
        <p:nvGrpSpPr>
          <p:cNvPr id="96" name="Group 95"/>
          <p:cNvGrpSpPr/>
          <p:nvPr userDrawn="1"/>
        </p:nvGrpSpPr>
        <p:grpSpPr bwMode="hidden">
          <a:xfrm>
            <a:off x="-1" y="-195943"/>
            <a:ext cx="12192002" cy="6858000"/>
            <a:chOff x="-1" y="0"/>
            <a:chExt cx="12192002" cy="6858000"/>
          </a:xfrm>
        </p:grpSpPr>
        <p:cxnSp>
          <p:nvCxnSpPr>
            <p:cNvPr id="97" name="Straight Connector 96"/>
            <p:cNvCxnSpPr/>
            <p:nvPr/>
          </p:nvCxnSpPr>
          <p:spPr bwMode="hidden">
            <a:xfrm>
              <a:off x="610194"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p:cNvCxnSpPr/>
            <p:nvPr/>
          </p:nvCxnSpPr>
          <p:spPr bwMode="hidden">
            <a:xfrm>
              <a:off x="1829332"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9" name="Straight Connector 98"/>
            <p:cNvCxnSpPr/>
            <p:nvPr/>
          </p:nvCxnSpPr>
          <p:spPr bwMode="hidden">
            <a:xfrm>
              <a:off x="3048470"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bwMode="hidden">
            <a:xfrm>
              <a:off x="4267608"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p:nvPr/>
          </p:nvCxnSpPr>
          <p:spPr bwMode="hidden">
            <a:xfrm>
              <a:off x="5486746"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p:nvPr/>
          </p:nvCxnSpPr>
          <p:spPr bwMode="hidden">
            <a:xfrm>
              <a:off x="6705884"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p:nvPr/>
          </p:nvCxnSpPr>
          <p:spPr bwMode="hidden">
            <a:xfrm>
              <a:off x="7925022"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bwMode="hidden">
            <a:xfrm>
              <a:off x="9144160"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bwMode="hidden">
            <a:xfrm>
              <a:off x="10363298"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p:cNvCxnSpPr/>
            <p:nvPr/>
          </p:nvCxnSpPr>
          <p:spPr bwMode="hidden">
            <a:xfrm>
              <a:off x="11582436"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bwMode="hidden">
            <a:xfrm>
              <a:off x="2819" y="386485"/>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p:nvPr/>
          </p:nvCxnSpPr>
          <p:spPr bwMode="hidden">
            <a:xfrm>
              <a:off x="2819" y="1611181"/>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p:nvCxnSpPr>
          <p:spPr bwMode="hidden">
            <a:xfrm>
              <a:off x="2819" y="2835877"/>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bwMode="hidden">
            <a:xfrm>
              <a:off x="2819" y="4060573"/>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p:nvPr/>
          </p:nvCxnSpPr>
          <p:spPr bwMode="hidden">
            <a:xfrm>
              <a:off x="2819" y="5285269"/>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p:nvCxnSpPr>
          <p:spPr bwMode="hidden">
            <a:xfrm>
              <a:off x="2819" y="6509965"/>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13" name="Group 112"/>
            <p:cNvGrpSpPr/>
            <p:nvPr userDrawn="1"/>
          </p:nvGrpSpPr>
          <p:grpSpPr bwMode="hidden">
            <a:xfrm>
              <a:off x="-1" y="0"/>
              <a:ext cx="12192001" cy="6858000"/>
              <a:chOff x="-1" y="0"/>
              <a:chExt cx="12192001" cy="6858000"/>
            </a:xfrm>
          </p:grpSpPr>
          <p:cxnSp>
            <p:nvCxnSpPr>
              <p:cNvPr id="131" name="Straight Connector 130"/>
              <p:cNvCxnSpPr/>
              <p:nvPr/>
            </p:nvCxnSpPr>
            <p:spPr bwMode="hidden">
              <a:xfrm>
                <a:off x="225425"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bwMode="hidden">
              <a:xfrm>
                <a:off x="1449154"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bwMode="hidden">
              <a:xfrm>
                <a:off x="266598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bwMode="hidden">
              <a:xfrm>
                <a:off x="3885119"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bwMode="hidden">
              <a:xfrm>
                <a:off x="510650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36" name="Group 135"/>
              <p:cNvGrpSpPr/>
              <p:nvPr/>
            </p:nvGrpSpPr>
            <p:grpSpPr bwMode="hidden">
              <a:xfrm>
                <a:off x="6327885" y="0"/>
                <a:ext cx="5864115" cy="5898673"/>
                <a:chOff x="6327885" y="0"/>
                <a:chExt cx="5864115" cy="5898673"/>
              </a:xfrm>
            </p:grpSpPr>
            <p:cxnSp>
              <p:nvCxnSpPr>
                <p:cNvPr id="142" name="Straight Connector 141"/>
                <p:cNvCxnSpPr/>
                <p:nvPr/>
              </p:nvCxnSpPr>
              <p:spPr bwMode="hidden">
                <a:xfrm>
                  <a:off x="6327885" y="0"/>
                  <a:ext cx="5864115" cy="5898673"/>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p:cNvCxnSpPr/>
                <p:nvPr/>
              </p:nvCxnSpPr>
              <p:spPr bwMode="hidden">
                <a:xfrm>
                  <a:off x="7549268" y="0"/>
                  <a:ext cx="4642732" cy="467242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p:cNvCxnSpPr/>
                <p:nvPr/>
              </p:nvCxnSpPr>
              <p:spPr bwMode="hidden">
                <a:xfrm>
                  <a:off x="8772997" y="0"/>
                  <a:ext cx="3419003" cy="34567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p:cNvCxnSpPr/>
                <p:nvPr/>
              </p:nvCxnSpPr>
              <p:spPr bwMode="hidden">
                <a:xfrm>
                  <a:off x="9982200" y="0"/>
                  <a:ext cx="2209800" cy="222646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p:cNvCxnSpPr/>
                <p:nvPr/>
              </p:nvCxnSpPr>
              <p:spPr bwMode="hidden">
                <a:xfrm>
                  <a:off x="11199019" y="0"/>
                  <a:ext cx="992981" cy="1002506"/>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137" name="Straight Connector 136"/>
              <p:cNvCxnSpPr/>
              <p:nvPr/>
            </p:nvCxnSpPr>
            <p:spPr bwMode="hidden">
              <a:xfrm flipH="1" flipV="1">
                <a:off x="-1" y="1012053"/>
                <a:ext cx="5828811" cy="58459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p:cNvCxnSpPr/>
              <p:nvPr/>
            </p:nvCxnSpPr>
            <p:spPr bwMode="hidden">
              <a:xfrm flipH="1" flipV="1">
                <a:off x="-1" y="2227340"/>
                <a:ext cx="4614781" cy="4630658"/>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p:cNvCxnSpPr/>
              <p:nvPr/>
            </p:nvCxnSpPr>
            <p:spPr bwMode="hidden">
              <a:xfrm flipH="1" flipV="1">
                <a:off x="-1" y="3432149"/>
                <a:ext cx="3398419" cy="34258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p:cNvCxnSpPr/>
              <p:nvPr/>
            </p:nvCxnSpPr>
            <p:spPr bwMode="hidden">
              <a:xfrm flipH="1" flipV="1">
                <a:off x="-1" y="4651431"/>
                <a:ext cx="2196496" cy="2206567"/>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p:cNvCxnSpPr/>
              <p:nvPr/>
            </p:nvCxnSpPr>
            <p:spPr bwMode="hidden">
              <a:xfrm flipH="1" flipV="1">
                <a:off x="-1" y="5864453"/>
                <a:ext cx="987003" cy="9935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114" name="Group 113"/>
            <p:cNvGrpSpPr/>
            <p:nvPr userDrawn="1"/>
          </p:nvGrpSpPr>
          <p:grpSpPr bwMode="hidden">
            <a:xfrm flipH="1">
              <a:off x="0" y="0"/>
              <a:ext cx="12192001" cy="6858000"/>
              <a:chOff x="-1" y="0"/>
              <a:chExt cx="12192001" cy="6858000"/>
            </a:xfrm>
          </p:grpSpPr>
          <p:cxnSp>
            <p:nvCxnSpPr>
              <p:cNvPr id="115" name="Straight Connector 114"/>
              <p:cNvCxnSpPr/>
              <p:nvPr/>
            </p:nvCxnSpPr>
            <p:spPr bwMode="hidden">
              <a:xfrm>
                <a:off x="225425"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p:cNvCxnSpPr/>
              <p:nvPr/>
            </p:nvCxnSpPr>
            <p:spPr bwMode="hidden">
              <a:xfrm>
                <a:off x="1449154"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p:cNvCxnSpPr/>
              <p:nvPr/>
            </p:nvCxnSpPr>
            <p:spPr bwMode="hidden">
              <a:xfrm>
                <a:off x="266598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p:cNvCxnSpPr/>
              <p:nvPr/>
            </p:nvCxnSpPr>
            <p:spPr bwMode="hidden">
              <a:xfrm>
                <a:off x="3885119"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p:cNvCxnSpPr/>
              <p:nvPr/>
            </p:nvCxnSpPr>
            <p:spPr bwMode="hidden">
              <a:xfrm>
                <a:off x="510650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20" name="Group 119"/>
              <p:cNvGrpSpPr/>
              <p:nvPr/>
            </p:nvGrpSpPr>
            <p:grpSpPr bwMode="hidden">
              <a:xfrm>
                <a:off x="6327885" y="0"/>
                <a:ext cx="5864115" cy="5898673"/>
                <a:chOff x="6327885" y="0"/>
                <a:chExt cx="5864115" cy="5898673"/>
              </a:xfrm>
            </p:grpSpPr>
            <p:cxnSp>
              <p:nvCxnSpPr>
                <p:cNvPr id="126" name="Straight Connector 125"/>
                <p:cNvCxnSpPr/>
                <p:nvPr/>
              </p:nvCxnSpPr>
              <p:spPr bwMode="hidden">
                <a:xfrm>
                  <a:off x="6327885" y="0"/>
                  <a:ext cx="5864115" cy="5898673"/>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p:cNvCxnSpPr/>
                <p:nvPr/>
              </p:nvCxnSpPr>
              <p:spPr bwMode="hidden">
                <a:xfrm>
                  <a:off x="7549268" y="0"/>
                  <a:ext cx="4642732" cy="467242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p:cNvCxnSpPr/>
                <p:nvPr/>
              </p:nvCxnSpPr>
              <p:spPr bwMode="hidden">
                <a:xfrm>
                  <a:off x="8772997" y="0"/>
                  <a:ext cx="3419003" cy="34567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p:cNvCxnSpPr/>
                <p:nvPr/>
              </p:nvCxnSpPr>
              <p:spPr bwMode="hidden">
                <a:xfrm>
                  <a:off x="9982200" y="0"/>
                  <a:ext cx="2209800" cy="222646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p:cNvCxnSpPr/>
                <p:nvPr/>
              </p:nvCxnSpPr>
              <p:spPr bwMode="hidden">
                <a:xfrm>
                  <a:off x="11199019" y="0"/>
                  <a:ext cx="992981" cy="1002506"/>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121" name="Straight Connector 120"/>
              <p:cNvCxnSpPr/>
              <p:nvPr/>
            </p:nvCxnSpPr>
            <p:spPr bwMode="hidden">
              <a:xfrm flipH="1" flipV="1">
                <a:off x="-1" y="1012053"/>
                <a:ext cx="5828811" cy="58459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bwMode="hidden">
              <a:xfrm flipH="1" flipV="1">
                <a:off x="-1" y="2227340"/>
                <a:ext cx="4614781" cy="4630658"/>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bwMode="hidden">
              <a:xfrm flipH="1" flipV="1">
                <a:off x="-1" y="3432149"/>
                <a:ext cx="3398419" cy="34258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p:cNvCxnSpPr/>
              <p:nvPr/>
            </p:nvCxnSpPr>
            <p:spPr bwMode="hidden">
              <a:xfrm flipH="1" flipV="1">
                <a:off x="-1" y="4651431"/>
                <a:ext cx="2196496" cy="2206567"/>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5" name="Straight Connector 124"/>
              <p:cNvCxnSpPr/>
              <p:nvPr/>
            </p:nvCxnSpPr>
            <p:spPr bwMode="hidden">
              <a:xfrm flipH="1" flipV="1">
                <a:off x="-1" y="5864453"/>
                <a:ext cx="987003" cy="9935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le Placeholder 1"/>
          <p:cNvSpPr>
            <a:spLocks noGrp="1"/>
          </p:cNvSpPr>
          <p:nvPr>
            <p:ph type="title"/>
          </p:nvPr>
        </p:nvSpPr>
        <p:spPr>
          <a:xfrm>
            <a:off x="1295400" y="503853"/>
            <a:ext cx="9601200" cy="1142385"/>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95400" y="1981201"/>
            <a:ext cx="9601200" cy="380999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48" name="Straight Connector 147"/>
          <p:cNvCxnSpPr/>
          <p:nvPr userDrawn="1"/>
        </p:nvCxnSpPr>
        <p:spPr>
          <a:xfrm>
            <a:off x="609600" y="6172200"/>
            <a:ext cx="10972800"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p:cNvSpPr>
            <a:spLocks noGrp="1"/>
          </p:cNvSpPr>
          <p:nvPr>
            <p:ph type="ftr" sz="quarter" idx="3"/>
          </p:nvPr>
        </p:nvSpPr>
        <p:spPr>
          <a:xfrm>
            <a:off x="609601" y="6289679"/>
            <a:ext cx="6128030" cy="222436"/>
          </a:xfrm>
          <a:prstGeom prst="rect">
            <a:avLst/>
          </a:prstGeom>
        </p:spPr>
        <p:txBody>
          <a:bodyPr vert="horz" lIns="91440" tIns="45720" rIns="91440" bIns="45720" rtlCol="0" anchor="ctr"/>
          <a:lstStyle>
            <a:lvl1pPr algn="l">
              <a:defRPr sz="1100">
                <a:solidFill>
                  <a:schemeClr val="tx1">
                    <a:lumMod val="90000"/>
                    <a:lumOff val="10000"/>
                  </a:schemeClr>
                </a:solidFill>
              </a:defRPr>
            </a:lvl1pPr>
          </a:lstStyle>
          <a:p>
            <a:r>
              <a:rPr lang="en-US" dirty="0"/>
              <a:t>Add a footer</a:t>
            </a:r>
          </a:p>
        </p:txBody>
      </p:sp>
      <p:sp>
        <p:nvSpPr>
          <p:cNvPr id="4" name="Date Placeholder 3"/>
          <p:cNvSpPr>
            <a:spLocks noGrp="1"/>
          </p:cNvSpPr>
          <p:nvPr>
            <p:ph type="dt" sz="half" idx="2"/>
          </p:nvPr>
        </p:nvSpPr>
        <p:spPr>
          <a:xfrm>
            <a:off x="9294042" y="6289679"/>
            <a:ext cx="965946" cy="222436"/>
          </a:xfrm>
          <a:prstGeom prst="rect">
            <a:avLst/>
          </a:prstGeom>
        </p:spPr>
        <p:txBody>
          <a:bodyPr vert="horz" lIns="91440" tIns="45720" rIns="91440" bIns="45720" rtlCol="0" anchor="ctr"/>
          <a:lstStyle>
            <a:lvl1pPr algn="r">
              <a:defRPr sz="1100">
                <a:solidFill>
                  <a:schemeClr val="tx1">
                    <a:lumMod val="90000"/>
                    <a:lumOff val="10000"/>
                  </a:schemeClr>
                </a:solidFill>
              </a:defRPr>
            </a:lvl1pPr>
          </a:lstStyle>
          <a:p>
            <a:fld id="{B51B2453-8663-4C69-AF73-9FD7B1DEC5D0}" type="datetime1">
              <a:rPr lang="en-US" smtClean="0"/>
              <a:pPr/>
              <a:t>12/8/2025</a:t>
            </a:fld>
            <a:endParaRPr lang="en-US" dirty="0"/>
          </a:p>
        </p:txBody>
      </p:sp>
      <p:sp>
        <p:nvSpPr>
          <p:cNvPr id="6" name="Slide Number Placeholder 5"/>
          <p:cNvSpPr>
            <a:spLocks noGrp="1"/>
          </p:cNvSpPr>
          <p:nvPr>
            <p:ph type="sldNum" sz="quarter" idx="4"/>
          </p:nvPr>
        </p:nvSpPr>
        <p:spPr>
          <a:xfrm>
            <a:off x="10665311" y="6289679"/>
            <a:ext cx="918882" cy="222436"/>
          </a:xfrm>
          <a:prstGeom prst="rect">
            <a:avLst/>
          </a:prstGeom>
        </p:spPr>
        <p:txBody>
          <a:bodyPr vert="horz" lIns="91440" tIns="45720" rIns="91440" bIns="45720" rtlCol="0" anchor="ctr"/>
          <a:lstStyle>
            <a:lvl1pPr algn="r">
              <a:defRPr sz="1100">
                <a:solidFill>
                  <a:schemeClr val="tx1">
                    <a:lumMod val="90000"/>
                    <a:lumOff val="10000"/>
                  </a:schemeClr>
                </a:solidFill>
              </a:defRPr>
            </a:lvl1pPr>
          </a:lstStyle>
          <a:p>
            <a:fld id="{E31375A4-56A4-47D6-9801-1991572033F7}" type="slidenum">
              <a:rPr lang="en-US" smtClean="0"/>
              <a:pPr/>
              <a:t>‹#›</a:t>
            </a:fld>
            <a:endParaRPr lang="en-US" dirty="0"/>
          </a:p>
        </p:txBody>
      </p:sp>
    </p:spTree>
    <p:extLst>
      <p:ext uri="{BB962C8B-B14F-4D97-AF65-F5344CB8AC3E}">
        <p14:creationId xmlns:p14="http://schemas.microsoft.com/office/powerpoint/2010/main" val="19432598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9"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p:titleStyle>
    <p:body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Threat Assessment 30 Day Report</a:t>
            </a:r>
          </a:p>
        </p:txBody>
      </p:sp>
    </p:spTree>
    <p:extLst>
      <p:ext uri="{BB962C8B-B14F-4D97-AF65-F5344CB8AC3E}">
        <p14:creationId xmlns:p14="http://schemas.microsoft.com/office/powerpoint/2010/main" val="106904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dirty="0"/>
              <a:t>Why?</a:t>
            </a:r>
          </a:p>
        </p:txBody>
      </p:sp>
      <p:sp>
        <p:nvSpPr>
          <p:cNvPr id="3" name="Content Placeholder 2"/>
          <p:cNvSpPr>
            <a:spLocks noGrp="1"/>
          </p:cNvSpPr>
          <p:nvPr>
            <p:ph idx="1"/>
          </p:nvPr>
        </p:nvSpPr>
        <p:spPr/>
        <p:txBody>
          <a:bodyPr>
            <a:normAutofit/>
          </a:bodyPr>
          <a:lstStyle/>
          <a:p>
            <a:pPr marL="0" indent="0">
              <a:buNone/>
            </a:pPr>
            <a:r>
              <a:rPr lang="en-US" sz="1600" dirty="0"/>
              <a:t>The purpose of developing an internal threat assessment scoring model is to give HTOC greater control over what we prioritize and how we evaluate threat activity. While ThreatConnect provides a strong scoring framework based on its own internal metrics, those metrics do not always reflect HTOC’s operational priorities. Our internal model enables us to embed our professional expertise directly into the algorithm, generating scores that better reflect what </a:t>
            </a:r>
            <a:r>
              <a:rPr lang="en-US" sz="1600" i="1" dirty="0"/>
              <a:t>we</a:t>
            </a:r>
            <a:r>
              <a:rPr lang="en-US" sz="1600" dirty="0"/>
              <a:t> view as important while still staying aligned with broader cyber intelligence community standards.</a:t>
            </a:r>
          </a:p>
          <a:p>
            <a:r>
              <a:rPr lang="en-US" sz="1600" dirty="0"/>
              <a:t>Provides HTOC with more control over what we prioritize and how threats are interpreted</a:t>
            </a:r>
          </a:p>
          <a:p>
            <a:r>
              <a:rPr lang="en-US" sz="1600" dirty="0"/>
              <a:t>ThreatConnect’s model is strong, but based on their internal metrics—not always aligned with ours</a:t>
            </a:r>
          </a:p>
          <a:p>
            <a:r>
              <a:rPr lang="en-US" sz="1600" dirty="0"/>
              <a:t>Allows integration of HTOC analyst knowledge directly into the scoring logic</a:t>
            </a:r>
          </a:p>
          <a:p>
            <a:r>
              <a:rPr lang="en-US" sz="1600" dirty="0"/>
              <a:t>Produces scores tailored to HTOC’s mission, use cases, and intelligence needs</a:t>
            </a:r>
          </a:p>
          <a:p>
            <a:r>
              <a:rPr lang="en-US" sz="1600" dirty="0"/>
              <a:t>Ensures our scoring remains consistent with broader cyber intelligence community expectations</a:t>
            </a:r>
          </a:p>
          <a:p>
            <a:endParaRPr lang="en-US" sz="1600" dirty="0"/>
          </a:p>
        </p:txBody>
      </p:sp>
    </p:spTree>
    <p:extLst>
      <p:ext uri="{BB962C8B-B14F-4D97-AF65-F5344CB8AC3E}">
        <p14:creationId xmlns:p14="http://schemas.microsoft.com/office/powerpoint/2010/main" val="3984617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064EC-58FD-E716-6CBF-408422CD8D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ACB722-53D0-38D4-D861-9BEA2A5D416C}"/>
              </a:ext>
            </a:extLst>
          </p:cNvPr>
          <p:cNvSpPr>
            <a:spLocks noGrp="1"/>
          </p:cNvSpPr>
          <p:nvPr>
            <p:ph type="title"/>
          </p:nvPr>
        </p:nvSpPr>
        <p:spPr/>
        <p:txBody>
          <a:bodyPr>
            <a:normAutofit/>
          </a:bodyPr>
          <a:lstStyle/>
          <a:p>
            <a:r>
              <a:rPr lang="en-US" sz="4400" dirty="0"/>
              <a:t>HTOC Scoring Model</a:t>
            </a:r>
          </a:p>
        </p:txBody>
      </p:sp>
      <p:sp>
        <p:nvSpPr>
          <p:cNvPr id="3" name="Content Placeholder 2">
            <a:extLst>
              <a:ext uri="{FF2B5EF4-FFF2-40B4-BE49-F238E27FC236}">
                <a16:creationId xmlns:a16="http://schemas.microsoft.com/office/drawing/2014/main" id="{E29BEEED-1291-976A-11A6-69347D1CD58E}"/>
              </a:ext>
            </a:extLst>
          </p:cNvPr>
          <p:cNvSpPr>
            <a:spLocks noGrp="1"/>
          </p:cNvSpPr>
          <p:nvPr>
            <p:ph idx="1"/>
          </p:nvPr>
        </p:nvSpPr>
        <p:spPr/>
        <p:txBody>
          <a:bodyPr>
            <a:normAutofit/>
          </a:bodyPr>
          <a:lstStyle/>
          <a:p>
            <a:pPr marL="0" indent="0">
              <a:buNone/>
            </a:pPr>
            <a:r>
              <a:rPr lang="en-US" sz="1600" dirty="0"/>
              <a:t>The HTOC scoring model is a rule-based, AI-driven system that enables us to ingest and prioritize the factors we deem most critical based on our professional expertise. It also incorporates external judgment from the wider cyber community, ensuring a balanced and community-aligned assessment.</a:t>
            </a:r>
          </a:p>
          <a:p>
            <a:r>
              <a:rPr lang="en-US" sz="1400" dirty="0"/>
              <a:t>The model ingests raw indicator data from both ThreatConnect and </a:t>
            </a:r>
            <a:r>
              <a:rPr lang="en-US" sz="1400" dirty="0" err="1"/>
              <a:t>VirusTotal</a:t>
            </a:r>
            <a:r>
              <a:rPr lang="en-US" sz="1400" dirty="0"/>
              <a:t> and processes it through several stages. The pipeline begins with data extraction, normalization, and cleaning, where duplicates, inconsistent formats, and irrelevant fields are removed. The next stage performs enrichment, augmenting each indicator with additional context such as malware classifications, observation patterns, tagging, and known threat behaviors. Once enriched, a rule-based layer is applied to weight specific attributes according to HTOC’s operational priorities.</a:t>
            </a:r>
          </a:p>
          <a:p>
            <a:r>
              <a:rPr lang="en-US" sz="1400" dirty="0"/>
              <a:t>After these steps, the cleaned and enriched dataset is used to train machine-learning components of the scoring system. During this phase, the model learns to recognize patterns in malicious activity, differentiate between critical, high, medium and low risk indicators, and apply consistent scoring logic. The final output is a threat score supported by both expert-defined rules and data-driven pattern recognition, allowing for more consistent and defensible prioritization of threats.</a:t>
            </a:r>
          </a:p>
        </p:txBody>
      </p:sp>
    </p:spTree>
    <p:extLst>
      <p:ext uri="{BB962C8B-B14F-4D97-AF65-F5344CB8AC3E}">
        <p14:creationId xmlns:p14="http://schemas.microsoft.com/office/powerpoint/2010/main" val="424311941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0C623-BA4D-4FE8-D9B8-B4CE8BE9C9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6173C5-1349-EEE8-8F2B-C991899AD0F9}"/>
              </a:ext>
            </a:extLst>
          </p:cNvPr>
          <p:cNvSpPr>
            <a:spLocks noGrp="1"/>
          </p:cNvSpPr>
          <p:nvPr>
            <p:ph type="title"/>
          </p:nvPr>
        </p:nvSpPr>
        <p:spPr/>
        <p:txBody>
          <a:bodyPr>
            <a:normAutofit/>
          </a:bodyPr>
          <a:lstStyle/>
          <a:p>
            <a:r>
              <a:rPr lang="en-US" sz="4400" dirty="0"/>
              <a:t>30-day Executive Summary</a:t>
            </a:r>
          </a:p>
        </p:txBody>
      </p:sp>
      <p:graphicFrame>
        <p:nvGraphicFramePr>
          <p:cNvPr id="6" name="Content Placeholder 5">
            <a:extLst>
              <a:ext uri="{FF2B5EF4-FFF2-40B4-BE49-F238E27FC236}">
                <a16:creationId xmlns:a16="http://schemas.microsoft.com/office/drawing/2014/main" id="{B17B8AF0-4AF4-373C-21C7-234497A242CE}"/>
              </a:ext>
            </a:extLst>
          </p:cNvPr>
          <p:cNvGraphicFramePr>
            <a:graphicFrameLocks noGrp="1"/>
          </p:cNvGraphicFramePr>
          <p:nvPr>
            <p:ph idx="1"/>
            <p:extLst>
              <p:ext uri="{D42A27DB-BD31-4B8C-83A1-F6EECF244321}">
                <p14:modId xmlns:p14="http://schemas.microsoft.com/office/powerpoint/2010/main" val="3329458367"/>
              </p:ext>
            </p:extLst>
          </p:nvPr>
        </p:nvGraphicFramePr>
        <p:xfrm>
          <a:off x="765561" y="1794617"/>
          <a:ext cx="5626694" cy="3436825"/>
        </p:xfrm>
        <a:graphic>
          <a:graphicData uri="http://schemas.openxmlformats.org/drawingml/2006/table">
            <a:tbl>
              <a:tblPr firstRow="1" bandRow="1">
                <a:tableStyleId>{BC89EF96-8CEA-46FF-86C4-4CE0E7609802}</a:tableStyleId>
              </a:tblPr>
              <a:tblGrid>
                <a:gridCol w="2813347">
                  <a:extLst>
                    <a:ext uri="{9D8B030D-6E8A-4147-A177-3AD203B41FA5}">
                      <a16:colId xmlns:a16="http://schemas.microsoft.com/office/drawing/2014/main" val="1016886851"/>
                    </a:ext>
                  </a:extLst>
                </a:gridCol>
                <a:gridCol w="2813347">
                  <a:extLst>
                    <a:ext uri="{9D8B030D-6E8A-4147-A177-3AD203B41FA5}">
                      <a16:colId xmlns:a16="http://schemas.microsoft.com/office/drawing/2014/main" val="2631198961"/>
                    </a:ext>
                  </a:extLst>
                </a:gridCol>
              </a:tblGrid>
              <a:tr h="312250">
                <a:tc>
                  <a:txBody>
                    <a:bodyPr/>
                    <a:lstStyle/>
                    <a:p>
                      <a:pPr algn="l" fontAlgn="b"/>
                      <a:r>
                        <a:rPr lang="en-US" sz="1200" b="1" i="0" u="none" strike="noStrike" dirty="0">
                          <a:solidFill>
                            <a:schemeClr val="tx1"/>
                          </a:solidFill>
                          <a:effectLst/>
                          <a:latin typeface="Segoe UI" panose="020B0502040204020203" pitchFamily="34" charset="0"/>
                        </a:rPr>
                        <a:t>Metric</a:t>
                      </a:r>
                    </a:p>
                  </a:txBody>
                  <a:tcPr marL="9525" marR="9525" marT="9525" marB="0" anchor="b"/>
                </a:tc>
                <a:tc>
                  <a:txBody>
                    <a:bodyPr/>
                    <a:lstStyle/>
                    <a:p>
                      <a:pPr algn="l" fontAlgn="b"/>
                      <a:r>
                        <a:rPr lang="en-US" sz="1200" b="1" i="0" u="none" strike="noStrike">
                          <a:solidFill>
                            <a:schemeClr val="tx1"/>
                          </a:solidFill>
                          <a:effectLst/>
                          <a:latin typeface="Segoe UI" panose="020B0502040204020203" pitchFamily="34" charset="0"/>
                        </a:rPr>
                        <a:t>Value</a:t>
                      </a:r>
                    </a:p>
                  </a:txBody>
                  <a:tcPr marL="9525" marR="9525" marT="9525" marB="0" anchor="b"/>
                </a:tc>
                <a:extLst>
                  <a:ext uri="{0D108BD9-81ED-4DB2-BD59-A6C34878D82A}">
                    <a16:rowId xmlns:a16="http://schemas.microsoft.com/office/drawing/2014/main" val="2171974087"/>
                  </a:ext>
                </a:extLst>
              </a:tr>
              <a:tr h="312250">
                <a:tc>
                  <a:txBody>
                    <a:bodyPr/>
                    <a:lstStyle/>
                    <a:p>
                      <a:pPr algn="l" fontAlgn="b"/>
                      <a:r>
                        <a:rPr lang="en-US" sz="1000" b="0" i="0" u="none" strike="noStrike" dirty="0">
                          <a:solidFill>
                            <a:schemeClr val="tx1"/>
                          </a:solidFill>
                          <a:effectLst/>
                          <a:latin typeface="Segoe UI" panose="020B0502040204020203" pitchFamily="34" charset="0"/>
                        </a:rPr>
                        <a:t>Total Indicators (Last 30 Days)</a:t>
                      </a:r>
                    </a:p>
                  </a:txBody>
                  <a:tcPr marL="9525" marR="9525" marT="9525" marB="0" anchor="b"/>
                </a:tc>
                <a:tc>
                  <a:txBody>
                    <a:bodyPr/>
                    <a:lstStyle/>
                    <a:p>
                      <a:pPr algn="l" fontAlgn="b"/>
                      <a:r>
                        <a:rPr lang="en-US" sz="1000" b="0" i="0" u="none" strike="noStrike" dirty="0">
                          <a:solidFill>
                            <a:schemeClr val="tx1"/>
                          </a:solidFill>
                          <a:effectLst/>
                          <a:latin typeface="Segoe UI" panose="020B0502040204020203" pitchFamily="34" charset="0"/>
                        </a:rPr>
                        <a:t>1496</a:t>
                      </a:r>
                    </a:p>
                  </a:txBody>
                  <a:tcPr marL="9525" marR="9525" marT="9525" marB="0" anchor="b"/>
                </a:tc>
                <a:extLst>
                  <a:ext uri="{0D108BD9-81ED-4DB2-BD59-A6C34878D82A}">
                    <a16:rowId xmlns:a16="http://schemas.microsoft.com/office/drawing/2014/main" val="3470878120"/>
                  </a:ext>
                </a:extLst>
              </a:tr>
              <a:tr h="312250">
                <a:tc>
                  <a:txBody>
                    <a:bodyPr/>
                    <a:lstStyle/>
                    <a:p>
                      <a:pPr algn="l" fontAlgn="b"/>
                      <a:r>
                        <a:rPr lang="en-US" sz="1000" b="0" i="0" u="none" strike="noStrike">
                          <a:solidFill>
                            <a:schemeClr val="tx1"/>
                          </a:solidFill>
                          <a:effectLst/>
                          <a:latin typeface="Segoe UI" panose="020B0502040204020203" pitchFamily="34" charset="0"/>
                        </a:rPr>
                        <a:t>Average Threat Score</a:t>
                      </a:r>
                    </a:p>
                  </a:txBody>
                  <a:tcPr marL="9525" marR="9525" marT="9525" marB="0" anchor="b"/>
                </a:tc>
                <a:tc>
                  <a:txBody>
                    <a:bodyPr/>
                    <a:lstStyle/>
                    <a:p>
                      <a:pPr algn="l" fontAlgn="b"/>
                      <a:r>
                        <a:rPr lang="en-US" sz="1000" b="0" i="0" u="none" strike="noStrike" dirty="0">
                          <a:solidFill>
                            <a:schemeClr val="tx1"/>
                          </a:solidFill>
                          <a:effectLst/>
                          <a:latin typeface="Segoe UI" panose="020B0502040204020203" pitchFamily="34" charset="0"/>
                        </a:rPr>
                        <a:t>289.35</a:t>
                      </a:r>
                    </a:p>
                  </a:txBody>
                  <a:tcPr marL="9525" marR="9525" marT="9525" marB="0" anchor="b"/>
                </a:tc>
                <a:extLst>
                  <a:ext uri="{0D108BD9-81ED-4DB2-BD59-A6C34878D82A}">
                    <a16:rowId xmlns:a16="http://schemas.microsoft.com/office/drawing/2014/main" val="1481965902"/>
                  </a:ext>
                </a:extLst>
              </a:tr>
              <a:tr h="312250">
                <a:tc>
                  <a:txBody>
                    <a:bodyPr/>
                    <a:lstStyle/>
                    <a:p>
                      <a:pPr algn="l" fontAlgn="b"/>
                      <a:r>
                        <a:rPr lang="en-US" sz="1000" b="0" i="0" u="none" strike="noStrike" dirty="0">
                          <a:solidFill>
                            <a:schemeClr val="tx1"/>
                          </a:solidFill>
                          <a:effectLst/>
                          <a:latin typeface="Segoe UI" panose="020B0502040204020203" pitchFamily="34" charset="0"/>
                        </a:rPr>
                        <a:t>Median Threat Score</a:t>
                      </a:r>
                    </a:p>
                  </a:txBody>
                  <a:tcPr marL="9525" marR="9525" marT="9525" marB="0" anchor="b"/>
                </a:tc>
                <a:tc>
                  <a:txBody>
                    <a:bodyPr/>
                    <a:lstStyle/>
                    <a:p>
                      <a:pPr algn="l" fontAlgn="b"/>
                      <a:r>
                        <a:rPr lang="en-US" sz="1000" b="0" i="0" u="none" strike="noStrike" dirty="0">
                          <a:solidFill>
                            <a:schemeClr val="tx1"/>
                          </a:solidFill>
                          <a:effectLst/>
                          <a:latin typeface="Segoe UI" panose="020B0502040204020203" pitchFamily="34" charset="0"/>
                        </a:rPr>
                        <a:t>268.50</a:t>
                      </a:r>
                    </a:p>
                  </a:txBody>
                  <a:tcPr marL="9525" marR="9525" marT="9525" marB="0" anchor="b"/>
                </a:tc>
                <a:extLst>
                  <a:ext uri="{0D108BD9-81ED-4DB2-BD59-A6C34878D82A}">
                    <a16:rowId xmlns:a16="http://schemas.microsoft.com/office/drawing/2014/main" val="929685380"/>
                  </a:ext>
                </a:extLst>
              </a:tr>
              <a:tr h="312250">
                <a:tc>
                  <a:txBody>
                    <a:bodyPr/>
                    <a:lstStyle/>
                    <a:p>
                      <a:pPr algn="l" fontAlgn="b"/>
                      <a:r>
                        <a:rPr lang="en-US" sz="1000" b="0" i="0" u="none" strike="noStrike" dirty="0">
                          <a:solidFill>
                            <a:schemeClr val="tx1"/>
                          </a:solidFill>
                          <a:effectLst/>
                          <a:latin typeface="Segoe UI" panose="020B0502040204020203" pitchFamily="34" charset="0"/>
                        </a:rPr>
                        <a:t>Highest Threat Score</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755.00</a:t>
                      </a:r>
                    </a:p>
                  </a:txBody>
                  <a:tcPr marL="9525" marR="9525" marT="9525" marB="0" anchor="b"/>
                </a:tc>
                <a:extLst>
                  <a:ext uri="{0D108BD9-81ED-4DB2-BD59-A6C34878D82A}">
                    <a16:rowId xmlns:a16="http://schemas.microsoft.com/office/drawing/2014/main" val="1957771841"/>
                  </a:ext>
                </a:extLst>
              </a:tr>
              <a:tr h="312250">
                <a:tc>
                  <a:txBody>
                    <a:bodyPr/>
                    <a:lstStyle/>
                    <a:p>
                      <a:pPr algn="l" fontAlgn="b"/>
                      <a:r>
                        <a:rPr lang="en-US" sz="1000" b="0" i="0" u="none" strike="noStrike">
                          <a:solidFill>
                            <a:schemeClr val="tx1"/>
                          </a:solidFill>
                          <a:effectLst/>
                          <a:latin typeface="Segoe UI" panose="020B0502040204020203" pitchFamily="34" charset="0"/>
                        </a:rPr>
                        <a:t>Top 10% Threshold Score</a:t>
                      </a:r>
                    </a:p>
                  </a:txBody>
                  <a:tcPr marL="9525" marR="9525" marT="9525" marB="0" anchor="b"/>
                </a:tc>
                <a:tc>
                  <a:txBody>
                    <a:bodyPr/>
                    <a:lstStyle/>
                    <a:p>
                      <a:pPr algn="l" fontAlgn="b"/>
                      <a:r>
                        <a:rPr lang="en-US" sz="1000" b="0" i="0" u="none" strike="noStrike" dirty="0">
                          <a:solidFill>
                            <a:schemeClr val="tx1"/>
                          </a:solidFill>
                          <a:effectLst/>
                          <a:latin typeface="Segoe UI" panose="020B0502040204020203" pitchFamily="34" charset="0"/>
                        </a:rPr>
                        <a:t>431.00</a:t>
                      </a:r>
                    </a:p>
                  </a:txBody>
                  <a:tcPr marL="9525" marR="9525" marT="9525" marB="0" anchor="b"/>
                </a:tc>
                <a:extLst>
                  <a:ext uri="{0D108BD9-81ED-4DB2-BD59-A6C34878D82A}">
                    <a16:rowId xmlns:a16="http://schemas.microsoft.com/office/drawing/2014/main" val="728855831"/>
                  </a:ext>
                </a:extLst>
              </a:tr>
              <a:tr h="312250">
                <a:tc>
                  <a:txBody>
                    <a:bodyPr/>
                    <a:lstStyle/>
                    <a:p>
                      <a:pPr algn="l" fontAlgn="b"/>
                      <a:r>
                        <a:rPr lang="en-US" sz="1000" b="0" i="0" u="none" strike="noStrike">
                          <a:solidFill>
                            <a:schemeClr val="tx1"/>
                          </a:solidFill>
                          <a:effectLst/>
                          <a:latin typeface="Segoe UI" panose="020B0502040204020203" pitchFamily="34" charset="0"/>
                        </a:rPr>
                        <a:t>Top 5% Threshold Score</a:t>
                      </a:r>
                    </a:p>
                  </a:txBody>
                  <a:tcPr marL="9525" marR="9525" marT="9525" marB="0" anchor="b"/>
                </a:tc>
                <a:tc>
                  <a:txBody>
                    <a:bodyPr/>
                    <a:lstStyle/>
                    <a:p>
                      <a:pPr algn="l" fontAlgn="b"/>
                      <a:r>
                        <a:rPr lang="en-US" sz="1000" b="0" i="0" u="none" strike="noStrike" dirty="0">
                          <a:solidFill>
                            <a:schemeClr val="tx1"/>
                          </a:solidFill>
                          <a:effectLst/>
                          <a:latin typeface="Segoe UI" panose="020B0502040204020203" pitchFamily="34" charset="0"/>
                        </a:rPr>
                        <a:t>499.00</a:t>
                      </a:r>
                    </a:p>
                  </a:txBody>
                  <a:tcPr marL="9525" marR="9525" marT="9525" marB="0" anchor="b"/>
                </a:tc>
                <a:extLst>
                  <a:ext uri="{0D108BD9-81ED-4DB2-BD59-A6C34878D82A}">
                    <a16:rowId xmlns:a16="http://schemas.microsoft.com/office/drawing/2014/main" val="1246805297"/>
                  </a:ext>
                </a:extLst>
              </a:tr>
              <a:tr h="312250">
                <a:tc>
                  <a:txBody>
                    <a:bodyPr/>
                    <a:lstStyle/>
                    <a:p>
                      <a:pPr algn="l" fontAlgn="b"/>
                      <a:r>
                        <a:rPr lang="en-US" sz="1000" b="0" i="0" u="none" strike="noStrike">
                          <a:solidFill>
                            <a:schemeClr val="tx1"/>
                          </a:solidFill>
                          <a:effectLst/>
                          <a:latin typeface="Segoe UI" panose="020B0502040204020203" pitchFamily="34" charset="0"/>
                        </a:rPr>
                        <a:t>Indicators in Top 10%</a:t>
                      </a:r>
                    </a:p>
                  </a:txBody>
                  <a:tcPr marL="9525" marR="9525" marT="9525" marB="0" anchor="b"/>
                </a:tc>
                <a:tc>
                  <a:txBody>
                    <a:bodyPr/>
                    <a:lstStyle/>
                    <a:p>
                      <a:pPr algn="l" fontAlgn="b"/>
                      <a:r>
                        <a:rPr lang="en-US" sz="1000" b="0" i="0" u="none" strike="noStrike" dirty="0">
                          <a:solidFill>
                            <a:schemeClr val="tx1"/>
                          </a:solidFill>
                          <a:effectLst/>
                          <a:latin typeface="Segoe UI" panose="020B0502040204020203" pitchFamily="34" charset="0"/>
                        </a:rPr>
                        <a:t>150</a:t>
                      </a:r>
                    </a:p>
                  </a:txBody>
                  <a:tcPr marL="9525" marR="9525" marT="9525" marB="0" anchor="b"/>
                </a:tc>
                <a:extLst>
                  <a:ext uri="{0D108BD9-81ED-4DB2-BD59-A6C34878D82A}">
                    <a16:rowId xmlns:a16="http://schemas.microsoft.com/office/drawing/2014/main" val="2488647335"/>
                  </a:ext>
                </a:extLst>
              </a:tr>
              <a:tr h="312250">
                <a:tc>
                  <a:txBody>
                    <a:bodyPr/>
                    <a:lstStyle/>
                    <a:p>
                      <a:pPr algn="l" fontAlgn="b"/>
                      <a:r>
                        <a:rPr lang="en-US" sz="1000" b="0" i="0" u="none" strike="noStrike">
                          <a:solidFill>
                            <a:schemeClr val="tx1"/>
                          </a:solidFill>
                          <a:effectLst/>
                          <a:latin typeface="Segoe UI" panose="020B0502040204020203" pitchFamily="34" charset="0"/>
                        </a:rPr>
                        <a:t>Indicators in Top 5%</a:t>
                      </a:r>
                    </a:p>
                  </a:txBody>
                  <a:tcPr marL="9525" marR="9525" marT="9525" marB="0" anchor="b"/>
                </a:tc>
                <a:tc>
                  <a:txBody>
                    <a:bodyPr/>
                    <a:lstStyle/>
                    <a:p>
                      <a:pPr algn="l" fontAlgn="b"/>
                      <a:r>
                        <a:rPr lang="en-US" sz="1000" b="0" i="0" u="none" strike="noStrike" dirty="0">
                          <a:solidFill>
                            <a:schemeClr val="tx1"/>
                          </a:solidFill>
                          <a:effectLst/>
                          <a:latin typeface="Segoe UI" panose="020B0502040204020203" pitchFamily="34" charset="0"/>
                        </a:rPr>
                        <a:t>75</a:t>
                      </a:r>
                    </a:p>
                  </a:txBody>
                  <a:tcPr marL="9525" marR="9525" marT="9525" marB="0" anchor="b"/>
                </a:tc>
                <a:extLst>
                  <a:ext uri="{0D108BD9-81ED-4DB2-BD59-A6C34878D82A}">
                    <a16:rowId xmlns:a16="http://schemas.microsoft.com/office/drawing/2014/main" val="2155168007"/>
                  </a:ext>
                </a:extLst>
              </a:tr>
              <a:tr h="312250">
                <a:tc>
                  <a:txBody>
                    <a:bodyPr/>
                    <a:lstStyle/>
                    <a:p>
                      <a:pPr algn="l" fontAlgn="b"/>
                      <a:r>
                        <a:rPr lang="en-US" sz="1000" b="0" i="0" u="none" strike="noStrike">
                          <a:solidFill>
                            <a:schemeClr val="tx1"/>
                          </a:solidFill>
                          <a:effectLst/>
                          <a:latin typeface="Segoe UI" panose="020B0502040204020203" pitchFamily="34" charset="0"/>
                        </a:rPr>
                        <a:t>Most Active Partner</a:t>
                      </a:r>
                    </a:p>
                  </a:txBody>
                  <a:tcPr marL="9525" marR="9525" marT="9525" marB="0" anchor="b"/>
                </a:tc>
                <a:tc>
                  <a:txBody>
                    <a:bodyPr/>
                    <a:lstStyle/>
                    <a:p>
                      <a:pPr algn="l" fontAlgn="b"/>
                      <a:r>
                        <a:rPr lang="en-US" sz="1000" b="0" i="0" u="none" strike="noStrike" dirty="0">
                          <a:solidFill>
                            <a:schemeClr val="tx1"/>
                          </a:solidFill>
                          <a:effectLst/>
                          <a:latin typeface="Segoe UI" panose="020B0502040204020203" pitchFamily="34" charset="0"/>
                        </a:rPr>
                        <a:t>CDC, CMS, DHA, FDA, HHS, HRSA, IHS, NIH, OS, VA</a:t>
                      </a:r>
                    </a:p>
                  </a:txBody>
                  <a:tcPr marL="9525" marR="9525" marT="9525" marB="0" anchor="b"/>
                </a:tc>
                <a:extLst>
                  <a:ext uri="{0D108BD9-81ED-4DB2-BD59-A6C34878D82A}">
                    <a16:rowId xmlns:a16="http://schemas.microsoft.com/office/drawing/2014/main" val="1866603504"/>
                  </a:ext>
                </a:extLst>
              </a:tr>
              <a:tr h="312250">
                <a:tc>
                  <a:txBody>
                    <a:bodyPr/>
                    <a:lstStyle/>
                    <a:p>
                      <a:pPr algn="l" fontAlgn="b"/>
                      <a:r>
                        <a:rPr lang="en-US" sz="1000" b="0" i="0" u="none" strike="noStrike" dirty="0">
                          <a:solidFill>
                            <a:schemeClr val="tx1"/>
                          </a:solidFill>
                          <a:effectLst/>
                          <a:latin typeface="Segoe UI" panose="020B0502040204020203" pitchFamily="34" charset="0"/>
                        </a:rPr>
                        <a:t>Average Days Since Last Observed</a:t>
                      </a:r>
                    </a:p>
                  </a:txBody>
                  <a:tcPr marL="9525" marR="9525" marT="9525" marB="0" anchor="b"/>
                </a:tc>
                <a:tc>
                  <a:txBody>
                    <a:bodyPr/>
                    <a:lstStyle/>
                    <a:p>
                      <a:pPr algn="l" fontAlgn="b"/>
                      <a:r>
                        <a:rPr lang="en-US" sz="1000" b="0" i="0" u="none" strike="noStrike" dirty="0">
                          <a:solidFill>
                            <a:schemeClr val="tx1"/>
                          </a:solidFill>
                          <a:effectLst/>
                          <a:latin typeface="Segoe UI" panose="020B0502040204020203" pitchFamily="34" charset="0"/>
                        </a:rPr>
                        <a:t>7.2 days</a:t>
                      </a:r>
                    </a:p>
                  </a:txBody>
                  <a:tcPr marL="9525" marR="9525" marT="9525" marB="0" anchor="b"/>
                </a:tc>
                <a:extLst>
                  <a:ext uri="{0D108BD9-81ED-4DB2-BD59-A6C34878D82A}">
                    <a16:rowId xmlns:a16="http://schemas.microsoft.com/office/drawing/2014/main" val="2638842251"/>
                  </a:ext>
                </a:extLst>
              </a:tr>
            </a:tbl>
          </a:graphicData>
        </a:graphic>
      </p:graphicFrame>
      <p:sp>
        <p:nvSpPr>
          <p:cNvPr id="7" name="TextBox 6">
            <a:extLst>
              <a:ext uri="{FF2B5EF4-FFF2-40B4-BE49-F238E27FC236}">
                <a16:creationId xmlns:a16="http://schemas.microsoft.com/office/drawing/2014/main" id="{1A94782D-0EFB-D4D6-9509-AA4D47323C8A}"/>
              </a:ext>
            </a:extLst>
          </p:cNvPr>
          <p:cNvSpPr txBox="1"/>
          <p:nvPr/>
        </p:nvSpPr>
        <p:spPr>
          <a:xfrm>
            <a:off x="6990460" y="1646238"/>
            <a:ext cx="4076343" cy="4524315"/>
          </a:xfrm>
          <a:prstGeom prst="rect">
            <a:avLst/>
          </a:prstGeom>
          <a:noFill/>
        </p:spPr>
        <p:txBody>
          <a:bodyPr wrap="square" rtlCol="0">
            <a:spAutoFit/>
          </a:bodyPr>
          <a:lstStyle/>
          <a:p>
            <a:r>
              <a:rPr lang="en-US" sz="1600" dirty="0"/>
              <a:t>Over the past 30 days, we reviewed 1,496 indicators. </a:t>
            </a:r>
          </a:p>
          <a:p>
            <a:endParaRPr lang="en-US" sz="1600" dirty="0"/>
          </a:p>
          <a:p>
            <a:pPr marL="285750" indent="-285750">
              <a:buFont typeface="Arial" panose="020B0604020202020204" pitchFamily="34" charset="0"/>
              <a:buChar char="•"/>
            </a:pPr>
            <a:r>
              <a:rPr lang="en-US" sz="1600" dirty="0"/>
              <a:t>Most of them had low to moderate threat levels, with an average score of around 289.</a:t>
            </a:r>
          </a:p>
          <a:p>
            <a:pPr marL="285750" indent="-285750">
              <a:buFont typeface="Arial" panose="020B0604020202020204" pitchFamily="34" charset="0"/>
              <a:buChar char="•"/>
            </a:pPr>
            <a:r>
              <a:rPr lang="en-US" sz="1600" dirty="0"/>
              <a:t>Only a small number of indicators were rated on the higher end, with the highest score reaching 755. </a:t>
            </a:r>
          </a:p>
          <a:p>
            <a:pPr marL="285750" indent="-285750">
              <a:buFont typeface="Arial" panose="020B0604020202020204" pitchFamily="34" charset="0"/>
              <a:buChar char="•"/>
            </a:pPr>
            <a:r>
              <a:rPr lang="en-US" sz="1600" dirty="0"/>
              <a:t>The strongest 10% of indicators started at a score of 431, and the top 5% began at 499, meaning only a limited portion of recent activity appears more concerning. </a:t>
            </a:r>
          </a:p>
          <a:p>
            <a:pPr marL="285750" indent="-285750">
              <a:buFont typeface="Arial" panose="020B0604020202020204" pitchFamily="34" charset="0"/>
              <a:buChar char="•"/>
            </a:pPr>
            <a:r>
              <a:rPr lang="en-US" sz="1600" dirty="0"/>
              <a:t>The most partners a single indicator was observed at was 10. CDC, CMS, DHA, FDA, HHS, HRSA, IHS, NIH, OS, and VA. </a:t>
            </a:r>
          </a:p>
        </p:txBody>
      </p:sp>
    </p:spTree>
    <p:extLst>
      <p:ext uri="{BB962C8B-B14F-4D97-AF65-F5344CB8AC3E}">
        <p14:creationId xmlns:p14="http://schemas.microsoft.com/office/powerpoint/2010/main" val="384758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Threat Score Distribution</a:t>
            </a:r>
          </a:p>
        </p:txBody>
      </p:sp>
      <p:graphicFrame>
        <p:nvGraphicFramePr>
          <p:cNvPr id="4" name="Table 3">
            <a:extLst>
              <a:ext uri="{FF2B5EF4-FFF2-40B4-BE49-F238E27FC236}">
                <a16:creationId xmlns:a16="http://schemas.microsoft.com/office/drawing/2014/main" id="{E8796700-3DA9-290E-021E-85F1CD72CD67}"/>
              </a:ext>
            </a:extLst>
          </p:cNvPr>
          <p:cNvGraphicFramePr>
            <a:graphicFrameLocks noGrp="1"/>
          </p:cNvGraphicFramePr>
          <p:nvPr>
            <p:extLst>
              <p:ext uri="{D42A27DB-BD31-4B8C-83A1-F6EECF244321}">
                <p14:modId xmlns:p14="http://schemas.microsoft.com/office/powerpoint/2010/main" val="3426317694"/>
              </p:ext>
            </p:extLst>
          </p:nvPr>
        </p:nvGraphicFramePr>
        <p:xfrm>
          <a:off x="1168875" y="2042445"/>
          <a:ext cx="4009875" cy="2914116"/>
        </p:xfrm>
        <a:graphic>
          <a:graphicData uri="http://schemas.openxmlformats.org/drawingml/2006/table">
            <a:tbl>
              <a:tblPr firstRow="1" bandRow="1">
                <a:tableStyleId>{BC89EF96-8CEA-46FF-86C4-4CE0E7609802}</a:tableStyleId>
              </a:tblPr>
              <a:tblGrid>
                <a:gridCol w="1336625">
                  <a:extLst>
                    <a:ext uri="{9D8B030D-6E8A-4147-A177-3AD203B41FA5}">
                      <a16:colId xmlns:a16="http://schemas.microsoft.com/office/drawing/2014/main" val="3249260036"/>
                    </a:ext>
                  </a:extLst>
                </a:gridCol>
                <a:gridCol w="1336625">
                  <a:extLst>
                    <a:ext uri="{9D8B030D-6E8A-4147-A177-3AD203B41FA5}">
                      <a16:colId xmlns:a16="http://schemas.microsoft.com/office/drawing/2014/main" val="4261110777"/>
                    </a:ext>
                  </a:extLst>
                </a:gridCol>
                <a:gridCol w="1336625">
                  <a:extLst>
                    <a:ext uri="{9D8B030D-6E8A-4147-A177-3AD203B41FA5}">
                      <a16:colId xmlns:a16="http://schemas.microsoft.com/office/drawing/2014/main" val="27322491"/>
                    </a:ext>
                  </a:extLst>
                </a:gridCol>
              </a:tblGrid>
              <a:tr h="585108">
                <a:tc>
                  <a:txBody>
                    <a:bodyPr/>
                    <a:lstStyle/>
                    <a:p>
                      <a:pPr algn="l" fontAlgn="b"/>
                      <a:r>
                        <a:rPr lang="en-US" sz="1200" b="1" i="0" u="none" strike="noStrike" dirty="0">
                          <a:solidFill>
                            <a:schemeClr val="tx1"/>
                          </a:solidFill>
                          <a:effectLst/>
                          <a:latin typeface="Segoe UI" panose="020B0502040204020203" pitchFamily="34" charset="0"/>
                        </a:rPr>
                        <a:t>Score Range</a:t>
                      </a:r>
                    </a:p>
                  </a:txBody>
                  <a:tcPr marL="9525" marR="9525" marT="9525" marB="0" anchor="b"/>
                </a:tc>
                <a:tc>
                  <a:txBody>
                    <a:bodyPr/>
                    <a:lstStyle/>
                    <a:p>
                      <a:pPr algn="l" fontAlgn="b"/>
                      <a:r>
                        <a:rPr lang="en-US" sz="1200" b="1" i="0" u="none" strike="noStrike" dirty="0">
                          <a:solidFill>
                            <a:schemeClr val="tx1"/>
                          </a:solidFill>
                          <a:effectLst/>
                          <a:latin typeface="Segoe UI" panose="020B0502040204020203" pitchFamily="34" charset="0"/>
                        </a:rPr>
                        <a:t>Count</a:t>
                      </a:r>
                    </a:p>
                  </a:txBody>
                  <a:tcPr marL="9525" marR="9525" marT="9525" marB="0" anchor="b"/>
                </a:tc>
                <a:tc>
                  <a:txBody>
                    <a:bodyPr/>
                    <a:lstStyle/>
                    <a:p>
                      <a:pPr algn="l" fontAlgn="b"/>
                      <a:r>
                        <a:rPr lang="en-US" sz="1200" b="1" i="0" u="none" strike="noStrike" dirty="0">
                          <a:solidFill>
                            <a:schemeClr val="tx1"/>
                          </a:solidFill>
                          <a:effectLst/>
                          <a:latin typeface="Segoe UI" panose="020B0502040204020203" pitchFamily="34" charset="0"/>
                        </a:rPr>
                        <a:t>Percentage</a:t>
                      </a:r>
                    </a:p>
                  </a:txBody>
                  <a:tcPr marL="9525" marR="9525" marT="9525" marB="0" anchor="b"/>
                </a:tc>
                <a:extLst>
                  <a:ext uri="{0D108BD9-81ED-4DB2-BD59-A6C34878D82A}">
                    <a16:rowId xmlns:a16="http://schemas.microsoft.com/office/drawing/2014/main" val="1836981444"/>
                  </a:ext>
                </a:extLst>
              </a:tr>
              <a:tr h="582252">
                <a:tc>
                  <a:txBody>
                    <a:bodyPr/>
                    <a:lstStyle/>
                    <a:p>
                      <a:pPr algn="l" fontAlgn="b"/>
                      <a:r>
                        <a:rPr lang="en-US" sz="1000" b="0" i="0" u="none" strike="noStrike" dirty="0">
                          <a:solidFill>
                            <a:schemeClr val="tx1"/>
                          </a:solidFill>
                          <a:effectLst/>
                          <a:latin typeface="Segoe UI" panose="020B0502040204020203" pitchFamily="34" charset="0"/>
                        </a:rPr>
                        <a:t>low (0-199)</a:t>
                      </a:r>
                    </a:p>
                  </a:txBody>
                  <a:tcPr marL="9525" marR="9525" marT="9525" marB="0" anchor="b"/>
                </a:tc>
                <a:tc>
                  <a:txBody>
                    <a:bodyPr/>
                    <a:lstStyle/>
                    <a:p>
                      <a:pPr algn="l" fontAlgn="b"/>
                      <a:r>
                        <a:rPr lang="en-US" sz="1000" b="0" i="0" u="none" strike="noStrike" dirty="0">
                          <a:solidFill>
                            <a:schemeClr val="tx1"/>
                          </a:solidFill>
                          <a:effectLst/>
                          <a:latin typeface="Segoe UI" panose="020B0502040204020203" pitchFamily="34" charset="0"/>
                        </a:rPr>
                        <a:t>730</a:t>
                      </a:r>
                    </a:p>
                  </a:txBody>
                  <a:tcPr marL="9525" marR="9525" marT="9525" marB="0" anchor="b"/>
                </a:tc>
                <a:tc>
                  <a:txBody>
                    <a:bodyPr/>
                    <a:lstStyle/>
                    <a:p>
                      <a:pPr algn="l" fontAlgn="b"/>
                      <a:r>
                        <a:rPr lang="en-US" sz="1000" b="0" i="0" u="none" strike="noStrike" dirty="0">
                          <a:solidFill>
                            <a:schemeClr val="tx1"/>
                          </a:solidFill>
                          <a:effectLst/>
                          <a:latin typeface="Segoe UI" panose="020B0502040204020203" pitchFamily="34" charset="0"/>
                        </a:rPr>
                        <a:t>48.8%</a:t>
                      </a:r>
                    </a:p>
                  </a:txBody>
                  <a:tcPr marL="9525" marR="9525" marT="9525" marB="0" anchor="b"/>
                </a:tc>
                <a:extLst>
                  <a:ext uri="{0D108BD9-81ED-4DB2-BD59-A6C34878D82A}">
                    <a16:rowId xmlns:a16="http://schemas.microsoft.com/office/drawing/2014/main" val="2587247021"/>
                  </a:ext>
                </a:extLst>
              </a:tr>
              <a:tr h="582252">
                <a:tc>
                  <a:txBody>
                    <a:bodyPr/>
                    <a:lstStyle/>
                    <a:p>
                      <a:pPr algn="l" fontAlgn="b"/>
                      <a:r>
                        <a:rPr lang="en-US" sz="1000" b="0" i="0" u="none" strike="noStrike" dirty="0">
                          <a:solidFill>
                            <a:schemeClr val="tx1"/>
                          </a:solidFill>
                          <a:effectLst/>
                          <a:latin typeface="Segoe UI" panose="020B0502040204020203" pitchFamily="34" charset="0"/>
                        </a:rPr>
                        <a:t>medium (200-499)</a:t>
                      </a:r>
                    </a:p>
                  </a:txBody>
                  <a:tcPr marL="9525" marR="9525" marT="9525" marB="0" anchor="b"/>
                </a:tc>
                <a:tc>
                  <a:txBody>
                    <a:bodyPr/>
                    <a:lstStyle/>
                    <a:p>
                      <a:pPr algn="l" fontAlgn="b"/>
                      <a:r>
                        <a:rPr lang="en-US" sz="1000" b="0" i="0" u="none" strike="noStrike" dirty="0">
                          <a:solidFill>
                            <a:schemeClr val="tx1"/>
                          </a:solidFill>
                          <a:effectLst/>
                          <a:latin typeface="Segoe UI" panose="020B0502040204020203" pitchFamily="34" charset="0"/>
                        </a:rPr>
                        <a:t>755</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50.5%</a:t>
                      </a:r>
                    </a:p>
                  </a:txBody>
                  <a:tcPr marL="9525" marR="9525" marT="9525" marB="0" anchor="b"/>
                </a:tc>
                <a:extLst>
                  <a:ext uri="{0D108BD9-81ED-4DB2-BD59-A6C34878D82A}">
                    <a16:rowId xmlns:a16="http://schemas.microsoft.com/office/drawing/2014/main" val="2081697261"/>
                  </a:ext>
                </a:extLst>
              </a:tr>
              <a:tr h="582252">
                <a:tc>
                  <a:txBody>
                    <a:bodyPr/>
                    <a:lstStyle/>
                    <a:p>
                      <a:pPr algn="l" fontAlgn="b"/>
                      <a:r>
                        <a:rPr lang="en-US" sz="1000" b="0" i="0" u="none" strike="noStrike">
                          <a:solidFill>
                            <a:schemeClr val="tx1"/>
                          </a:solidFill>
                          <a:effectLst/>
                          <a:latin typeface="Segoe UI" panose="020B0502040204020203" pitchFamily="34" charset="0"/>
                        </a:rPr>
                        <a:t>high (500-799)</a:t>
                      </a:r>
                    </a:p>
                  </a:txBody>
                  <a:tcPr marL="9525" marR="9525" marT="9525" marB="0" anchor="b"/>
                </a:tc>
                <a:tc>
                  <a:txBody>
                    <a:bodyPr/>
                    <a:lstStyle/>
                    <a:p>
                      <a:pPr algn="l" fontAlgn="b"/>
                      <a:r>
                        <a:rPr lang="en-US" sz="1000" b="0" i="0" u="none" strike="noStrike" dirty="0">
                          <a:solidFill>
                            <a:schemeClr val="tx1"/>
                          </a:solidFill>
                          <a:effectLst/>
                          <a:latin typeface="Segoe UI" panose="020B0502040204020203" pitchFamily="34" charset="0"/>
                        </a:rPr>
                        <a:t>11</a:t>
                      </a:r>
                    </a:p>
                  </a:txBody>
                  <a:tcPr marL="9525" marR="9525" marT="9525" marB="0" anchor="b"/>
                </a:tc>
                <a:tc>
                  <a:txBody>
                    <a:bodyPr/>
                    <a:lstStyle/>
                    <a:p>
                      <a:pPr algn="l" fontAlgn="b"/>
                      <a:r>
                        <a:rPr lang="en-US" sz="1000" b="0" i="0" u="none" strike="noStrike" dirty="0">
                          <a:solidFill>
                            <a:schemeClr val="tx1"/>
                          </a:solidFill>
                          <a:effectLst/>
                          <a:latin typeface="Segoe UI" panose="020B0502040204020203" pitchFamily="34" charset="0"/>
                        </a:rPr>
                        <a:t>0.7%</a:t>
                      </a:r>
                    </a:p>
                  </a:txBody>
                  <a:tcPr marL="9525" marR="9525" marT="9525" marB="0" anchor="b"/>
                </a:tc>
                <a:extLst>
                  <a:ext uri="{0D108BD9-81ED-4DB2-BD59-A6C34878D82A}">
                    <a16:rowId xmlns:a16="http://schemas.microsoft.com/office/drawing/2014/main" val="786352562"/>
                  </a:ext>
                </a:extLst>
              </a:tr>
              <a:tr h="582252">
                <a:tc>
                  <a:txBody>
                    <a:bodyPr/>
                    <a:lstStyle/>
                    <a:p>
                      <a:pPr algn="l" fontAlgn="b"/>
                      <a:r>
                        <a:rPr lang="en-US" sz="1000" b="0" i="0" u="none" strike="noStrike">
                          <a:solidFill>
                            <a:schemeClr val="tx1"/>
                          </a:solidFill>
                          <a:effectLst/>
                          <a:latin typeface="Segoe UI" panose="020B0502040204020203" pitchFamily="34" charset="0"/>
                        </a:rPr>
                        <a:t>critical (800-1001)</a:t>
                      </a:r>
                    </a:p>
                  </a:txBody>
                  <a:tcPr marL="9525" marR="9525" marT="9525" marB="0" anchor="b"/>
                </a:tc>
                <a:tc>
                  <a:txBody>
                    <a:bodyPr/>
                    <a:lstStyle/>
                    <a:p>
                      <a:pPr algn="l" fontAlgn="b"/>
                      <a:r>
                        <a:rPr lang="en-US" sz="1000" b="0" i="0" u="none" strike="noStrike" dirty="0">
                          <a:solidFill>
                            <a:schemeClr val="tx1"/>
                          </a:solidFill>
                          <a:effectLst/>
                          <a:latin typeface="Segoe UI" panose="020B0502040204020203" pitchFamily="34" charset="0"/>
                        </a:rPr>
                        <a:t>0</a:t>
                      </a:r>
                    </a:p>
                  </a:txBody>
                  <a:tcPr marL="9525" marR="9525" marT="9525" marB="0" anchor="b"/>
                </a:tc>
                <a:tc>
                  <a:txBody>
                    <a:bodyPr/>
                    <a:lstStyle/>
                    <a:p>
                      <a:pPr algn="l" fontAlgn="b"/>
                      <a:r>
                        <a:rPr lang="en-US" sz="1000" b="0" i="0" u="none" strike="noStrike" dirty="0">
                          <a:solidFill>
                            <a:schemeClr val="tx1"/>
                          </a:solidFill>
                          <a:effectLst/>
                          <a:latin typeface="Segoe UI" panose="020B0502040204020203" pitchFamily="34" charset="0"/>
                        </a:rPr>
                        <a:t>0.0%</a:t>
                      </a:r>
                    </a:p>
                  </a:txBody>
                  <a:tcPr marL="9525" marR="9525" marT="9525" marB="0" anchor="b"/>
                </a:tc>
                <a:extLst>
                  <a:ext uri="{0D108BD9-81ED-4DB2-BD59-A6C34878D82A}">
                    <a16:rowId xmlns:a16="http://schemas.microsoft.com/office/drawing/2014/main" val="1301999770"/>
                  </a:ext>
                </a:extLst>
              </a:tr>
            </a:tbl>
          </a:graphicData>
        </a:graphic>
      </p:graphicFrame>
      <p:sp>
        <p:nvSpPr>
          <p:cNvPr id="7" name="Content Placeholder 6">
            <a:extLst>
              <a:ext uri="{FF2B5EF4-FFF2-40B4-BE49-F238E27FC236}">
                <a16:creationId xmlns:a16="http://schemas.microsoft.com/office/drawing/2014/main" id="{EA05F5CE-459F-5AF1-4589-8810C39BDC77}"/>
              </a:ext>
            </a:extLst>
          </p:cNvPr>
          <p:cNvSpPr>
            <a:spLocks noGrp="1"/>
          </p:cNvSpPr>
          <p:nvPr>
            <p:ph idx="1"/>
          </p:nvPr>
        </p:nvSpPr>
        <p:spPr>
          <a:xfrm>
            <a:off x="5349667" y="2042445"/>
            <a:ext cx="6246976" cy="3153398"/>
          </a:xfrm>
        </p:spPr>
        <p:txBody>
          <a:bodyPr>
            <a:normAutofit lnSpcReduction="10000"/>
          </a:bodyPr>
          <a:lstStyle/>
          <a:p>
            <a:pPr marL="0" indent="0">
              <a:buNone/>
            </a:pPr>
            <a:r>
              <a:rPr lang="en-US" sz="1600" dirty="0"/>
              <a:t>The distribution of threat assessment scores shows that nearly all evaluated indicators fall within the low or medium risk ranges</a:t>
            </a:r>
          </a:p>
          <a:p>
            <a:r>
              <a:rPr lang="en-US" sz="1600" dirty="0"/>
              <a:t>Specifically, 48.8% of indicators scored in the low range (0–199), and 50.5% scored in the medium range (200–499), indicating that most of the observed activity represents routine or moderately concerning behavior rather than highly malicious threats. </a:t>
            </a:r>
          </a:p>
          <a:p>
            <a:r>
              <a:rPr lang="en-US" sz="1600" dirty="0"/>
              <a:t>Only 0.7% of indicators reached the high-risk range (500–799), and none were classified as critical (800–1001). This suggests that while 50% of indicators warrant awareness and periodic review, very few currently pose significant or urgent risk according to HTOC’s scoring model.</a:t>
            </a:r>
          </a:p>
        </p:txBody>
      </p:sp>
    </p:spTree>
    <p:extLst>
      <p:ext uri="{BB962C8B-B14F-4D97-AF65-F5344CB8AC3E}">
        <p14:creationId xmlns:p14="http://schemas.microsoft.com/office/powerpoint/2010/main" val="1476019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B8294-3DD5-0BE0-1EAC-A70B7FE4BF09}"/>
              </a:ext>
            </a:extLst>
          </p:cNvPr>
          <p:cNvSpPr>
            <a:spLocks noGrp="1"/>
          </p:cNvSpPr>
          <p:nvPr>
            <p:ph type="title"/>
          </p:nvPr>
        </p:nvSpPr>
        <p:spPr/>
        <p:txBody>
          <a:bodyPr>
            <a:normAutofit/>
          </a:bodyPr>
          <a:lstStyle/>
          <a:p>
            <a:r>
              <a:rPr lang="en-US" sz="4000" dirty="0"/>
              <a:t>Recent Activity</a:t>
            </a:r>
          </a:p>
        </p:txBody>
      </p:sp>
      <p:graphicFrame>
        <p:nvGraphicFramePr>
          <p:cNvPr id="4" name="Content Placeholder 3">
            <a:extLst>
              <a:ext uri="{FF2B5EF4-FFF2-40B4-BE49-F238E27FC236}">
                <a16:creationId xmlns:a16="http://schemas.microsoft.com/office/drawing/2014/main" id="{9AA5FCCC-8F3C-DFC2-F365-F8A9A62816B0}"/>
              </a:ext>
            </a:extLst>
          </p:cNvPr>
          <p:cNvGraphicFramePr>
            <a:graphicFrameLocks noGrp="1"/>
          </p:cNvGraphicFramePr>
          <p:nvPr>
            <p:ph idx="1"/>
            <p:extLst>
              <p:ext uri="{D42A27DB-BD31-4B8C-83A1-F6EECF244321}">
                <p14:modId xmlns:p14="http://schemas.microsoft.com/office/powerpoint/2010/main" val="355862593"/>
              </p:ext>
            </p:extLst>
          </p:nvPr>
        </p:nvGraphicFramePr>
        <p:xfrm>
          <a:off x="2480095" y="1871468"/>
          <a:ext cx="7220308" cy="1854200"/>
        </p:xfrm>
        <a:graphic>
          <a:graphicData uri="http://schemas.openxmlformats.org/drawingml/2006/table">
            <a:tbl>
              <a:tblPr firstRow="1" bandRow="1">
                <a:tableStyleId>{BC89EF96-8CEA-46FF-86C4-4CE0E7609802}</a:tableStyleId>
              </a:tblPr>
              <a:tblGrid>
                <a:gridCol w="1204848">
                  <a:extLst>
                    <a:ext uri="{9D8B030D-6E8A-4147-A177-3AD203B41FA5}">
                      <a16:colId xmlns:a16="http://schemas.microsoft.com/office/drawing/2014/main" val="4284528539"/>
                    </a:ext>
                  </a:extLst>
                </a:gridCol>
                <a:gridCol w="1203092">
                  <a:extLst>
                    <a:ext uri="{9D8B030D-6E8A-4147-A177-3AD203B41FA5}">
                      <a16:colId xmlns:a16="http://schemas.microsoft.com/office/drawing/2014/main" val="28704980"/>
                    </a:ext>
                  </a:extLst>
                </a:gridCol>
                <a:gridCol w="826966">
                  <a:extLst>
                    <a:ext uri="{9D8B030D-6E8A-4147-A177-3AD203B41FA5}">
                      <a16:colId xmlns:a16="http://schemas.microsoft.com/office/drawing/2014/main" val="1612193728"/>
                    </a:ext>
                  </a:extLst>
                </a:gridCol>
                <a:gridCol w="1579218">
                  <a:extLst>
                    <a:ext uri="{9D8B030D-6E8A-4147-A177-3AD203B41FA5}">
                      <a16:colId xmlns:a16="http://schemas.microsoft.com/office/drawing/2014/main" val="1137589821"/>
                    </a:ext>
                  </a:extLst>
                </a:gridCol>
                <a:gridCol w="1203092">
                  <a:extLst>
                    <a:ext uri="{9D8B030D-6E8A-4147-A177-3AD203B41FA5}">
                      <a16:colId xmlns:a16="http://schemas.microsoft.com/office/drawing/2014/main" val="897155823"/>
                    </a:ext>
                  </a:extLst>
                </a:gridCol>
                <a:gridCol w="1203092">
                  <a:extLst>
                    <a:ext uri="{9D8B030D-6E8A-4147-A177-3AD203B41FA5}">
                      <a16:colId xmlns:a16="http://schemas.microsoft.com/office/drawing/2014/main" val="2228325578"/>
                    </a:ext>
                  </a:extLst>
                </a:gridCol>
              </a:tblGrid>
              <a:tr h="370840">
                <a:tc>
                  <a:txBody>
                    <a:bodyPr/>
                    <a:lstStyle/>
                    <a:p>
                      <a:pPr algn="l" fontAlgn="b"/>
                      <a:r>
                        <a:rPr lang="en-US" sz="1200" b="1" i="0" u="none" strike="noStrike" dirty="0">
                          <a:solidFill>
                            <a:schemeClr val="tx1"/>
                          </a:solidFill>
                          <a:effectLst/>
                          <a:latin typeface="Segoe UI" panose="020B0502040204020203" pitchFamily="34" charset="0"/>
                        </a:rPr>
                        <a:t>Time Period</a:t>
                      </a:r>
                    </a:p>
                  </a:txBody>
                  <a:tcPr marL="9525" marR="9525" marT="9525" marB="0" anchor="b"/>
                </a:tc>
                <a:tc>
                  <a:txBody>
                    <a:bodyPr/>
                    <a:lstStyle/>
                    <a:p>
                      <a:pPr algn="l" fontAlgn="b"/>
                      <a:r>
                        <a:rPr lang="en-US" sz="1200" b="1" i="0" u="none" strike="noStrike">
                          <a:solidFill>
                            <a:schemeClr val="tx1"/>
                          </a:solidFill>
                          <a:effectLst/>
                          <a:latin typeface="Segoe UI" panose="020B0502040204020203" pitchFamily="34" charset="0"/>
                        </a:rPr>
                        <a:t>Date Range</a:t>
                      </a:r>
                    </a:p>
                  </a:txBody>
                  <a:tcPr marL="9525" marR="9525" marT="9525" marB="0" anchor="b"/>
                </a:tc>
                <a:tc>
                  <a:txBody>
                    <a:bodyPr/>
                    <a:lstStyle/>
                    <a:p>
                      <a:pPr algn="l" fontAlgn="b"/>
                      <a:r>
                        <a:rPr lang="en-US" sz="1200" b="1" i="0" u="none" strike="noStrike">
                          <a:solidFill>
                            <a:schemeClr val="tx1"/>
                          </a:solidFill>
                          <a:effectLst/>
                          <a:latin typeface="Segoe UI" panose="020B0502040204020203" pitchFamily="34" charset="0"/>
                        </a:rPr>
                        <a:t>Count</a:t>
                      </a:r>
                    </a:p>
                  </a:txBody>
                  <a:tcPr marL="9525" marR="9525" marT="9525" marB="0" anchor="b"/>
                </a:tc>
                <a:tc>
                  <a:txBody>
                    <a:bodyPr/>
                    <a:lstStyle/>
                    <a:p>
                      <a:pPr algn="l" fontAlgn="b"/>
                      <a:r>
                        <a:rPr lang="en-US" sz="1200" b="1" i="0" u="none" strike="noStrike">
                          <a:solidFill>
                            <a:schemeClr val="tx1"/>
                          </a:solidFill>
                          <a:effectLst/>
                          <a:latin typeface="Segoe UI" panose="020B0502040204020203" pitchFamily="34" charset="0"/>
                        </a:rPr>
                        <a:t>Percentage of All</a:t>
                      </a:r>
                    </a:p>
                  </a:txBody>
                  <a:tcPr marL="9525" marR="9525" marT="9525" marB="0" anchor="b"/>
                </a:tc>
                <a:tc>
                  <a:txBody>
                    <a:bodyPr/>
                    <a:lstStyle/>
                    <a:p>
                      <a:pPr algn="l" fontAlgn="b"/>
                      <a:r>
                        <a:rPr lang="en-US" sz="1200" b="1" i="0" u="none" strike="noStrike">
                          <a:solidFill>
                            <a:schemeClr val="tx1"/>
                          </a:solidFill>
                          <a:effectLst/>
                          <a:latin typeface="Segoe UI" panose="020B0502040204020203" pitchFamily="34" charset="0"/>
                        </a:rPr>
                        <a:t>Avg Score</a:t>
                      </a:r>
                    </a:p>
                  </a:txBody>
                  <a:tcPr marL="9525" marR="9525" marT="9525" marB="0" anchor="b"/>
                </a:tc>
                <a:tc>
                  <a:txBody>
                    <a:bodyPr/>
                    <a:lstStyle/>
                    <a:p>
                      <a:pPr algn="l" fontAlgn="b"/>
                      <a:r>
                        <a:rPr lang="en-US" sz="1200" b="1" i="0" u="none" strike="noStrike" dirty="0">
                          <a:solidFill>
                            <a:schemeClr val="tx1"/>
                          </a:solidFill>
                          <a:effectLst/>
                          <a:latin typeface="Segoe UI" panose="020B0502040204020203" pitchFamily="34" charset="0"/>
                        </a:rPr>
                        <a:t>Median Score</a:t>
                      </a:r>
                    </a:p>
                  </a:txBody>
                  <a:tcPr marL="9525" marR="9525" marT="9525" marB="0" anchor="b"/>
                </a:tc>
                <a:extLst>
                  <a:ext uri="{0D108BD9-81ED-4DB2-BD59-A6C34878D82A}">
                    <a16:rowId xmlns:a16="http://schemas.microsoft.com/office/drawing/2014/main" val="848822847"/>
                  </a:ext>
                </a:extLst>
              </a:tr>
              <a:tr h="370840">
                <a:tc>
                  <a:txBody>
                    <a:bodyPr/>
                    <a:lstStyle/>
                    <a:p>
                      <a:pPr algn="l" fontAlgn="b"/>
                      <a:r>
                        <a:rPr lang="en-US" sz="1000" b="0" i="0" u="none" strike="noStrike">
                          <a:solidFill>
                            <a:schemeClr val="tx1"/>
                          </a:solidFill>
                          <a:effectLst/>
                          <a:latin typeface="Segoe UI" panose="020B0502040204020203" pitchFamily="34" charset="0"/>
                        </a:rPr>
                        <a:t>0–7 Days</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12/03 - 12/10/2025</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1028</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68.4%</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293.0</a:t>
                      </a:r>
                    </a:p>
                  </a:txBody>
                  <a:tcPr marL="9525" marR="9525" marT="9525" marB="0" anchor="b"/>
                </a:tc>
                <a:tc>
                  <a:txBody>
                    <a:bodyPr/>
                    <a:lstStyle/>
                    <a:p>
                      <a:pPr algn="l" fontAlgn="b"/>
                      <a:r>
                        <a:rPr lang="en-US" sz="1000" b="0" i="0" u="none" strike="noStrike" dirty="0">
                          <a:solidFill>
                            <a:schemeClr val="tx1"/>
                          </a:solidFill>
                          <a:effectLst/>
                          <a:latin typeface="Segoe UI" panose="020B0502040204020203" pitchFamily="34" charset="0"/>
                        </a:rPr>
                        <a:t>311.0</a:t>
                      </a:r>
                    </a:p>
                  </a:txBody>
                  <a:tcPr marL="9525" marR="9525" marT="9525" marB="0" anchor="b"/>
                </a:tc>
                <a:extLst>
                  <a:ext uri="{0D108BD9-81ED-4DB2-BD59-A6C34878D82A}">
                    <a16:rowId xmlns:a16="http://schemas.microsoft.com/office/drawing/2014/main" val="4145225970"/>
                  </a:ext>
                </a:extLst>
              </a:tr>
              <a:tr h="370840">
                <a:tc>
                  <a:txBody>
                    <a:bodyPr/>
                    <a:lstStyle/>
                    <a:p>
                      <a:pPr algn="l" fontAlgn="b"/>
                      <a:r>
                        <a:rPr lang="en-US" sz="1000" b="0" i="0" u="none" strike="noStrike">
                          <a:solidFill>
                            <a:schemeClr val="tx1"/>
                          </a:solidFill>
                          <a:effectLst/>
                          <a:latin typeface="Segoe UI" panose="020B0502040204020203" pitchFamily="34" charset="0"/>
                        </a:rPr>
                        <a:t>8–14 Days</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11/26 - 12/02/2025</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174</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11.6%</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220.0</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196.5</a:t>
                      </a:r>
                    </a:p>
                  </a:txBody>
                  <a:tcPr marL="9525" marR="9525" marT="9525" marB="0" anchor="b"/>
                </a:tc>
                <a:extLst>
                  <a:ext uri="{0D108BD9-81ED-4DB2-BD59-A6C34878D82A}">
                    <a16:rowId xmlns:a16="http://schemas.microsoft.com/office/drawing/2014/main" val="2287311802"/>
                  </a:ext>
                </a:extLst>
              </a:tr>
              <a:tr h="370840">
                <a:tc>
                  <a:txBody>
                    <a:bodyPr/>
                    <a:lstStyle/>
                    <a:p>
                      <a:pPr algn="l" fontAlgn="b"/>
                      <a:r>
                        <a:rPr lang="en-US" sz="1000" b="0" i="0" u="none" strike="noStrike">
                          <a:solidFill>
                            <a:schemeClr val="tx1"/>
                          </a:solidFill>
                          <a:effectLst/>
                          <a:latin typeface="Segoe UI" panose="020B0502040204020203" pitchFamily="34" charset="0"/>
                        </a:rPr>
                        <a:t>15–21 Days</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11/19 - 11/25/2025</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149</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9.9%</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210.8</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183.0</a:t>
                      </a:r>
                    </a:p>
                  </a:txBody>
                  <a:tcPr marL="9525" marR="9525" marT="9525" marB="0" anchor="b"/>
                </a:tc>
                <a:extLst>
                  <a:ext uri="{0D108BD9-81ED-4DB2-BD59-A6C34878D82A}">
                    <a16:rowId xmlns:a16="http://schemas.microsoft.com/office/drawing/2014/main" val="1132138404"/>
                  </a:ext>
                </a:extLst>
              </a:tr>
              <a:tr h="370840">
                <a:tc>
                  <a:txBody>
                    <a:bodyPr/>
                    <a:lstStyle/>
                    <a:p>
                      <a:pPr algn="l" fontAlgn="b"/>
                      <a:r>
                        <a:rPr lang="en-US" sz="1000" b="0" i="0" u="none" strike="noStrike">
                          <a:solidFill>
                            <a:schemeClr val="tx1"/>
                          </a:solidFill>
                          <a:effectLst/>
                          <a:latin typeface="Segoe UI" panose="020B0502040204020203" pitchFamily="34" charset="0"/>
                        </a:rPr>
                        <a:t>22–30 Days</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11/10 - 11/18/2025</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151</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10.1%</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204.2</a:t>
                      </a:r>
                    </a:p>
                  </a:txBody>
                  <a:tcPr marL="9525" marR="9525" marT="9525" marB="0" anchor="b"/>
                </a:tc>
                <a:tc>
                  <a:txBody>
                    <a:bodyPr/>
                    <a:lstStyle/>
                    <a:p>
                      <a:pPr algn="l" fontAlgn="b"/>
                      <a:r>
                        <a:rPr lang="en-US" sz="1000" b="0" i="0" u="none" strike="noStrike" dirty="0">
                          <a:solidFill>
                            <a:schemeClr val="tx1"/>
                          </a:solidFill>
                          <a:effectLst/>
                          <a:latin typeface="Segoe UI" panose="020B0502040204020203" pitchFamily="34" charset="0"/>
                        </a:rPr>
                        <a:t>194.0</a:t>
                      </a:r>
                    </a:p>
                  </a:txBody>
                  <a:tcPr marL="9525" marR="9525" marT="9525" marB="0" anchor="b"/>
                </a:tc>
                <a:extLst>
                  <a:ext uri="{0D108BD9-81ED-4DB2-BD59-A6C34878D82A}">
                    <a16:rowId xmlns:a16="http://schemas.microsoft.com/office/drawing/2014/main" val="1786232870"/>
                  </a:ext>
                </a:extLst>
              </a:tr>
            </a:tbl>
          </a:graphicData>
        </a:graphic>
      </p:graphicFrame>
      <p:sp>
        <p:nvSpPr>
          <p:cNvPr id="5" name="TextBox 4">
            <a:extLst>
              <a:ext uri="{FF2B5EF4-FFF2-40B4-BE49-F238E27FC236}">
                <a16:creationId xmlns:a16="http://schemas.microsoft.com/office/drawing/2014/main" id="{703D7441-74AA-06F8-D49E-FB10DCAE5FAF}"/>
              </a:ext>
            </a:extLst>
          </p:cNvPr>
          <p:cNvSpPr txBox="1"/>
          <p:nvPr/>
        </p:nvSpPr>
        <p:spPr>
          <a:xfrm>
            <a:off x="543464" y="3949955"/>
            <a:ext cx="11093570" cy="2246769"/>
          </a:xfrm>
          <a:prstGeom prst="rect">
            <a:avLst/>
          </a:prstGeom>
          <a:noFill/>
        </p:spPr>
        <p:txBody>
          <a:bodyPr wrap="square" rtlCol="0">
            <a:spAutoFit/>
          </a:bodyPr>
          <a:lstStyle/>
          <a:p>
            <a:r>
              <a:rPr lang="en-US" sz="1400" dirty="0"/>
              <a:t>Recent indicator activity is heavily concentrated within the past week, with </a:t>
            </a:r>
            <a:r>
              <a:rPr lang="en-US" sz="1400" b="1" dirty="0"/>
              <a:t>68% of all observations occurring in the 0–7-day window</a:t>
            </a:r>
            <a:r>
              <a:rPr lang="en-US" sz="1400" dirty="0"/>
              <a:t>. These recent indicators also carry the </a:t>
            </a:r>
            <a:r>
              <a:rPr lang="en-US" sz="1400" b="1" dirty="0"/>
              <a:t>highest severity</a:t>
            </a:r>
            <a:r>
              <a:rPr lang="en-US" sz="1400" dirty="0"/>
              <a:t>, reflected in the elevated average and median scores (293 and 311). This pattern suggests a surge in recent threat activity—such as active scanning, campaign launches, or increased partner reporting—making the most recent indicators the highest priority for monitoring and response.</a:t>
            </a:r>
          </a:p>
          <a:p>
            <a:endParaRPr lang="en-US" sz="1400" dirty="0"/>
          </a:p>
          <a:p>
            <a:r>
              <a:rPr lang="en-US" sz="1400" dirty="0"/>
              <a:t>Beyond the 7-day window, activity drops sharply: only </a:t>
            </a:r>
            <a:r>
              <a:rPr lang="en-US" sz="1400" b="1" dirty="0"/>
              <a:t>11–12%</a:t>
            </a:r>
            <a:r>
              <a:rPr lang="en-US" sz="1400" dirty="0"/>
              <a:t> of indicators fall in the 8–14 and 22–30-day ranges, and severity scores decrease consistently as indicators age. Indicators older than two weeks show lower significance, aligning with expected decay in threat relevance over time. Overall, the data shows a </a:t>
            </a:r>
            <a:r>
              <a:rPr lang="en-US" sz="1400" b="1" dirty="0"/>
              <a:t>strong correlation between recency and threat severity</a:t>
            </a:r>
            <a:r>
              <a:rPr lang="en-US" sz="1400" dirty="0"/>
              <a:t>, signifying the need to focus on indicators observed within the last 7 days.</a:t>
            </a:r>
          </a:p>
          <a:p>
            <a:endParaRPr lang="en-US" sz="1400" dirty="0"/>
          </a:p>
        </p:txBody>
      </p:sp>
    </p:spTree>
    <p:extLst>
      <p:ext uri="{BB962C8B-B14F-4D97-AF65-F5344CB8AC3E}">
        <p14:creationId xmlns:p14="http://schemas.microsoft.com/office/powerpoint/2010/main" val="3327150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Partner Observation Distribution</a:t>
            </a:r>
          </a:p>
        </p:txBody>
      </p:sp>
      <p:sp>
        <p:nvSpPr>
          <p:cNvPr id="3" name="Content Placeholder 2"/>
          <p:cNvSpPr>
            <a:spLocks noGrp="1"/>
          </p:cNvSpPr>
          <p:nvPr>
            <p:ph sz="half" idx="1"/>
          </p:nvPr>
        </p:nvSpPr>
        <p:spPr>
          <a:xfrm>
            <a:off x="6986899" y="1821524"/>
            <a:ext cx="4572000" cy="3810001"/>
          </a:xfrm>
        </p:spPr>
        <p:txBody>
          <a:bodyPr>
            <a:normAutofit fontScale="92500" lnSpcReduction="10000"/>
          </a:bodyPr>
          <a:lstStyle/>
          <a:p>
            <a:r>
              <a:rPr lang="en-US" sz="1600" dirty="0"/>
              <a:t>Over the last 30 days, CMS, DHA, and VA recorded the highest number of indicator observations, each seeing more than 860 occurrences. </a:t>
            </a:r>
          </a:p>
          <a:p>
            <a:r>
              <a:rPr lang="en-US" sz="1600" dirty="0"/>
              <a:t>OS and FDA followed closely with observation counts in the 800s, and HRSA, IHS, and NIH each saw between 660 and 710 indicators.</a:t>
            </a:r>
          </a:p>
          <a:p>
            <a:r>
              <a:rPr lang="en-US" sz="1600" dirty="0"/>
              <a:t> HHS recorded nearly 600 observations, while CDC logged 322. </a:t>
            </a:r>
          </a:p>
          <a:p>
            <a:pPr marL="0" indent="0">
              <a:buNone/>
            </a:pPr>
            <a:r>
              <a:rPr lang="en-US" sz="1600" dirty="0"/>
              <a:t>Overall, these numbers show which partner organizations are seeing the most activity in their environments, giving us a clearer picture of where threats are appearing most often. This level of repeated activity may suggest emerging patterns or shared exposure across multiple partner networks.</a:t>
            </a:r>
          </a:p>
        </p:txBody>
      </p:sp>
      <p:graphicFrame>
        <p:nvGraphicFramePr>
          <p:cNvPr id="7" name="Content Placeholder 6">
            <a:extLst>
              <a:ext uri="{FF2B5EF4-FFF2-40B4-BE49-F238E27FC236}">
                <a16:creationId xmlns:a16="http://schemas.microsoft.com/office/drawing/2014/main" id="{9869307F-B1D9-81C9-302E-FA87E9B3E5F5}"/>
              </a:ext>
            </a:extLst>
          </p:cNvPr>
          <p:cNvGraphicFramePr>
            <a:graphicFrameLocks noGrp="1"/>
          </p:cNvGraphicFramePr>
          <p:nvPr>
            <p:ph sz="half" idx="2"/>
            <p:extLst>
              <p:ext uri="{D42A27DB-BD31-4B8C-83A1-F6EECF244321}">
                <p14:modId xmlns:p14="http://schemas.microsoft.com/office/powerpoint/2010/main" val="2417449119"/>
              </p:ext>
            </p:extLst>
          </p:nvPr>
        </p:nvGraphicFramePr>
        <p:xfrm>
          <a:off x="1295400" y="1755908"/>
          <a:ext cx="4571997" cy="4079240"/>
        </p:xfrm>
        <a:graphic>
          <a:graphicData uri="http://schemas.openxmlformats.org/drawingml/2006/table">
            <a:tbl>
              <a:tblPr firstRow="1" bandRow="1">
                <a:tableStyleId>{BC89EF96-8CEA-46FF-86C4-4CE0E7609802}</a:tableStyleId>
              </a:tblPr>
              <a:tblGrid>
                <a:gridCol w="1523999">
                  <a:extLst>
                    <a:ext uri="{9D8B030D-6E8A-4147-A177-3AD203B41FA5}">
                      <a16:colId xmlns:a16="http://schemas.microsoft.com/office/drawing/2014/main" val="2772983238"/>
                    </a:ext>
                  </a:extLst>
                </a:gridCol>
                <a:gridCol w="1523999">
                  <a:extLst>
                    <a:ext uri="{9D8B030D-6E8A-4147-A177-3AD203B41FA5}">
                      <a16:colId xmlns:a16="http://schemas.microsoft.com/office/drawing/2014/main" val="3810583612"/>
                    </a:ext>
                  </a:extLst>
                </a:gridCol>
                <a:gridCol w="1523999">
                  <a:extLst>
                    <a:ext uri="{9D8B030D-6E8A-4147-A177-3AD203B41FA5}">
                      <a16:colId xmlns:a16="http://schemas.microsoft.com/office/drawing/2014/main" val="182465613"/>
                    </a:ext>
                  </a:extLst>
                </a:gridCol>
              </a:tblGrid>
              <a:tr h="370840">
                <a:tc>
                  <a:txBody>
                    <a:bodyPr/>
                    <a:lstStyle/>
                    <a:p>
                      <a:pPr algn="l" fontAlgn="b"/>
                      <a:r>
                        <a:rPr lang="en-US" sz="1200" b="1" i="0" u="none" strike="noStrike" dirty="0">
                          <a:solidFill>
                            <a:schemeClr val="tx1"/>
                          </a:solidFill>
                          <a:effectLst/>
                          <a:latin typeface="Segoe UI" panose="020B0502040204020203" pitchFamily="34" charset="0"/>
                        </a:rPr>
                        <a:t>Rank</a:t>
                      </a:r>
                    </a:p>
                  </a:txBody>
                  <a:tcPr marL="9525" marR="9525" marT="9525" marB="0" anchor="b"/>
                </a:tc>
                <a:tc>
                  <a:txBody>
                    <a:bodyPr/>
                    <a:lstStyle/>
                    <a:p>
                      <a:pPr algn="l" fontAlgn="b"/>
                      <a:r>
                        <a:rPr lang="en-US" sz="1200" b="1" i="0" u="none" strike="noStrike">
                          <a:solidFill>
                            <a:schemeClr val="tx1"/>
                          </a:solidFill>
                          <a:effectLst/>
                          <a:latin typeface="Segoe UI" panose="020B0502040204020203" pitchFamily="34" charset="0"/>
                        </a:rPr>
                        <a:t>Partner Organization</a:t>
                      </a:r>
                    </a:p>
                  </a:txBody>
                  <a:tcPr marL="9525" marR="9525" marT="9525" marB="0" anchor="b"/>
                </a:tc>
                <a:tc>
                  <a:txBody>
                    <a:bodyPr/>
                    <a:lstStyle/>
                    <a:p>
                      <a:pPr algn="l" fontAlgn="b"/>
                      <a:r>
                        <a:rPr lang="en-US" sz="1200" b="1" i="0" u="none" strike="noStrike">
                          <a:solidFill>
                            <a:schemeClr val="tx1"/>
                          </a:solidFill>
                          <a:effectLst/>
                          <a:latin typeface="Segoe UI" panose="020B0502040204020203" pitchFamily="34" charset="0"/>
                        </a:rPr>
                        <a:t>Indicator Count</a:t>
                      </a:r>
                    </a:p>
                  </a:txBody>
                  <a:tcPr marL="9525" marR="9525" marT="9525" marB="0" anchor="b"/>
                </a:tc>
                <a:extLst>
                  <a:ext uri="{0D108BD9-81ED-4DB2-BD59-A6C34878D82A}">
                    <a16:rowId xmlns:a16="http://schemas.microsoft.com/office/drawing/2014/main" val="3400578272"/>
                  </a:ext>
                </a:extLst>
              </a:tr>
              <a:tr h="370840">
                <a:tc>
                  <a:txBody>
                    <a:bodyPr/>
                    <a:lstStyle/>
                    <a:p>
                      <a:pPr algn="l" fontAlgn="b"/>
                      <a:r>
                        <a:rPr lang="en-US" sz="1000" b="0" i="0" u="none" strike="noStrike" dirty="0">
                          <a:solidFill>
                            <a:schemeClr val="tx1"/>
                          </a:solidFill>
                          <a:effectLst/>
                          <a:latin typeface="Segoe UI" panose="020B0502040204020203" pitchFamily="34" charset="0"/>
                        </a:rPr>
                        <a:t>1</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CMS</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923</a:t>
                      </a:r>
                    </a:p>
                  </a:txBody>
                  <a:tcPr marL="9525" marR="9525" marT="9525" marB="0" anchor="b"/>
                </a:tc>
                <a:extLst>
                  <a:ext uri="{0D108BD9-81ED-4DB2-BD59-A6C34878D82A}">
                    <a16:rowId xmlns:a16="http://schemas.microsoft.com/office/drawing/2014/main" val="2818313636"/>
                  </a:ext>
                </a:extLst>
              </a:tr>
              <a:tr h="370840">
                <a:tc>
                  <a:txBody>
                    <a:bodyPr/>
                    <a:lstStyle/>
                    <a:p>
                      <a:pPr algn="l" fontAlgn="b"/>
                      <a:r>
                        <a:rPr lang="en-US" sz="1000" b="0" i="0" u="none" strike="noStrike" dirty="0">
                          <a:solidFill>
                            <a:schemeClr val="tx1"/>
                          </a:solidFill>
                          <a:effectLst/>
                          <a:latin typeface="Segoe UI" panose="020B0502040204020203" pitchFamily="34" charset="0"/>
                        </a:rPr>
                        <a:t>2</a:t>
                      </a:r>
                    </a:p>
                  </a:txBody>
                  <a:tcPr marL="9525" marR="9525" marT="9525" marB="0" anchor="b"/>
                </a:tc>
                <a:tc>
                  <a:txBody>
                    <a:bodyPr/>
                    <a:lstStyle/>
                    <a:p>
                      <a:pPr algn="l" fontAlgn="b"/>
                      <a:r>
                        <a:rPr lang="en-US" sz="1000" b="0" i="0" u="none" strike="noStrike" dirty="0">
                          <a:solidFill>
                            <a:schemeClr val="tx1"/>
                          </a:solidFill>
                          <a:effectLst/>
                          <a:latin typeface="Segoe UI" panose="020B0502040204020203" pitchFamily="34" charset="0"/>
                        </a:rPr>
                        <a:t>DHA</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920</a:t>
                      </a:r>
                    </a:p>
                  </a:txBody>
                  <a:tcPr marL="9525" marR="9525" marT="9525" marB="0" anchor="b"/>
                </a:tc>
                <a:extLst>
                  <a:ext uri="{0D108BD9-81ED-4DB2-BD59-A6C34878D82A}">
                    <a16:rowId xmlns:a16="http://schemas.microsoft.com/office/drawing/2014/main" val="1209918888"/>
                  </a:ext>
                </a:extLst>
              </a:tr>
              <a:tr h="370840">
                <a:tc>
                  <a:txBody>
                    <a:bodyPr/>
                    <a:lstStyle/>
                    <a:p>
                      <a:pPr algn="l" fontAlgn="b"/>
                      <a:r>
                        <a:rPr lang="en-US" sz="1000" b="0" i="0" u="none" strike="noStrike">
                          <a:solidFill>
                            <a:schemeClr val="tx1"/>
                          </a:solidFill>
                          <a:effectLst/>
                          <a:latin typeface="Segoe UI" panose="020B0502040204020203" pitchFamily="34" charset="0"/>
                        </a:rPr>
                        <a:t>3</a:t>
                      </a:r>
                    </a:p>
                  </a:txBody>
                  <a:tcPr marL="9525" marR="9525" marT="9525" marB="0" anchor="b"/>
                </a:tc>
                <a:tc>
                  <a:txBody>
                    <a:bodyPr/>
                    <a:lstStyle/>
                    <a:p>
                      <a:pPr algn="l" fontAlgn="b"/>
                      <a:r>
                        <a:rPr lang="en-US" sz="1000" b="0" i="0" u="none" strike="noStrike" dirty="0">
                          <a:solidFill>
                            <a:schemeClr val="tx1"/>
                          </a:solidFill>
                          <a:effectLst/>
                          <a:latin typeface="Segoe UI" panose="020B0502040204020203" pitchFamily="34" charset="0"/>
                        </a:rPr>
                        <a:t>VA</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864</a:t>
                      </a:r>
                    </a:p>
                  </a:txBody>
                  <a:tcPr marL="9525" marR="9525" marT="9525" marB="0" anchor="b"/>
                </a:tc>
                <a:extLst>
                  <a:ext uri="{0D108BD9-81ED-4DB2-BD59-A6C34878D82A}">
                    <a16:rowId xmlns:a16="http://schemas.microsoft.com/office/drawing/2014/main" val="4265079633"/>
                  </a:ext>
                </a:extLst>
              </a:tr>
              <a:tr h="370840">
                <a:tc>
                  <a:txBody>
                    <a:bodyPr/>
                    <a:lstStyle/>
                    <a:p>
                      <a:pPr algn="l" fontAlgn="b"/>
                      <a:r>
                        <a:rPr lang="en-US" sz="1000" b="0" i="0" u="none" strike="noStrike" dirty="0">
                          <a:solidFill>
                            <a:schemeClr val="tx1"/>
                          </a:solidFill>
                          <a:effectLst/>
                          <a:latin typeface="Segoe UI" panose="020B0502040204020203" pitchFamily="34" charset="0"/>
                        </a:rPr>
                        <a:t>4</a:t>
                      </a:r>
                    </a:p>
                  </a:txBody>
                  <a:tcPr marL="9525" marR="9525" marT="9525" marB="0" anchor="b"/>
                </a:tc>
                <a:tc>
                  <a:txBody>
                    <a:bodyPr/>
                    <a:lstStyle/>
                    <a:p>
                      <a:pPr algn="l" fontAlgn="b"/>
                      <a:r>
                        <a:rPr lang="en-US" sz="1000" b="0" i="0" u="none" strike="noStrike" dirty="0">
                          <a:solidFill>
                            <a:schemeClr val="tx1"/>
                          </a:solidFill>
                          <a:effectLst/>
                          <a:latin typeface="Segoe UI" panose="020B0502040204020203" pitchFamily="34" charset="0"/>
                        </a:rPr>
                        <a:t>OS</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839</a:t>
                      </a:r>
                    </a:p>
                  </a:txBody>
                  <a:tcPr marL="9525" marR="9525" marT="9525" marB="0" anchor="b"/>
                </a:tc>
                <a:extLst>
                  <a:ext uri="{0D108BD9-81ED-4DB2-BD59-A6C34878D82A}">
                    <a16:rowId xmlns:a16="http://schemas.microsoft.com/office/drawing/2014/main" val="2423537052"/>
                  </a:ext>
                </a:extLst>
              </a:tr>
              <a:tr h="370840">
                <a:tc>
                  <a:txBody>
                    <a:bodyPr/>
                    <a:lstStyle/>
                    <a:p>
                      <a:pPr algn="l" fontAlgn="b"/>
                      <a:r>
                        <a:rPr lang="en-US" sz="1000" b="0" i="0" u="none" strike="noStrike">
                          <a:solidFill>
                            <a:schemeClr val="tx1"/>
                          </a:solidFill>
                          <a:effectLst/>
                          <a:latin typeface="Segoe UI" panose="020B0502040204020203" pitchFamily="34" charset="0"/>
                        </a:rPr>
                        <a:t>5</a:t>
                      </a:r>
                    </a:p>
                  </a:txBody>
                  <a:tcPr marL="9525" marR="9525" marT="9525" marB="0" anchor="b"/>
                </a:tc>
                <a:tc>
                  <a:txBody>
                    <a:bodyPr/>
                    <a:lstStyle/>
                    <a:p>
                      <a:pPr algn="l" fontAlgn="b"/>
                      <a:r>
                        <a:rPr lang="en-US" sz="1000" b="0" i="0" u="none" strike="noStrike" dirty="0">
                          <a:solidFill>
                            <a:schemeClr val="tx1"/>
                          </a:solidFill>
                          <a:effectLst/>
                          <a:latin typeface="Segoe UI" panose="020B0502040204020203" pitchFamily="34" charset="0"/>
                        </a:rPr>
                        <a:t>FDA</a:t>
                      </a:r>
                    </a:p>
                  </a:txBody>
                  <a:tcPr marL="9525" marR="9525" marT="9525" marB="0" anchor="b"/>
                </a:tc>
                <a:tc>
                  <a:txBody>
                    <a:bodyPr/>
                    <a:lstStyle/>
                    <a:p>
                      <a:pPr algn="l" fontAlgn="b"/>
                      <a:r>
                        <a:rPr lang="en-US" sz="1000" b="0" i="0" u="none" strike="noStrike" dirty="0">
                          <a:solidFill>
                            <a:schemeClr val="tx1"/>
                          </a:solidFill>
                          <a:effectLst/>
                          <a:latin typeface="Segoe UI" panose="020B0502040204020203" pitchFamily="34" charset="0"/>
                        </a:rPr>
                        <a:t>803</a:t>
                      </a:r>
                    </a:p>
                  </a:txBody>
                  <a:tcPr marL="9525" marR="9525" marT="9525" marB="0" anchor="b"/>
                </a:tc>
                <a:extLst>
                  <a:ext uri="{0D108BD9-81ED-4DB2-BD59-A6C34878D82A}">
                    <a16:rowId xmlns:a16="http://schemas.microsoft.com/office/drawing/2014/main" val="3536711006"/>
                  </a:ext>
                </a:extLst>
              </a:tr>
              <a:tr h="370840">
                <a:tc>
                  <a:txBody>
                    <a:bodyPr/>
                    <a:lstStyle/>
                    <a:p>
                      <a:pPr algn="l" fontAlgn="b"/>
                      <a:r>
                        <a:rPr lang="en-US" sz="1000" b="0" i="0" u="none" strike="noStrike">
                          <a:solidFill>
                            <a:schemeClr val="tx1"/>
                          </a:solidFill>
                          <a:effectLst/>
                          <a:latin typeface="Segoe UI" panose="020B0502040204020203" pitchFamily="34" charset="0"/>
                        </a:rPr>
                        <a:t>6</a:t>
                      </a:r>
                    </a:p>
                  </a:txBody>
                  <a:tcPr marL="9525" marR="9525" marT="9525" marB="0" anchor="b"/>
                </a:tc>
                <a:tc>
                  <a:txBody>
                    <a:bodyPr/>
                    <a:lstStyle/>
                    <a:p>
                      <a:pPr algn="l" fontAlgn="b"/>
                      <a:r>
                        <a:rPr lang="en-US" sz="1000" b="0" i="0" u="none" strike="noStrike" dirty="0">
                          <a:solidFill>
                            <a:schemeClr val="tx1"/>
                          </a:solidFill>
                          <a:effectLst/>
                          <a:latin typeface="Segoe UI" panose="020B0502040204020203" pitchFamily="34" charset="0"/>
                        </a:rPr>
                        <a:t>HRSA</a:t>
                      </a:r>
                    </a:p>
                  </a:txBody>
                  <a:tcPr marL="9525" marR="9525" marT="9525" marB="0" anchor="b"/>
                </a:tc>
                <a:tc>
                  <a:txBody>
                    <a:bodyPr/>
                    <a:lstStyle/>
                    <a:p>
                      <a:pPr algn="l" fontAlgn="b"/>
                      <a:r>
                        <a:rPr lang="en-US" sz="1000" b="0" i="0" u="none" strike="noStrike" dirty="0">
                          <a:solidFill>
                            <a:schemeClr val="tx1"/>
                          </a:solidFill>
                          <a:effectLst/>
                          <a:latin typeface="Segoe UI" panose="020B0502040204020203" pitchFamily="34" charset="0"/>
                        </a:rPr>
                        <a:t>710</a:t>
                      </a:r>
                    </a:p>
                  </a:txBody>
                  <a:tcPr marL="9525" marR="9525" marT="9525" marB="0" anchor="b"/>
                </a:tc>
                <a:extLst>
                  <a:ext uri="{0D108BD9-81ED-4DB2-BD59-A6C34878D82A}">
                    <a16:rowId xmlns:a16="http://schemas.microsoft.com/office/drawing/2014/main" val="457534250"/>
                  </a:ext>
                </a:extLst>
              </a:tr>
              <a:tr h="370840">
                <a:tc>
                  <a:txBody>
                    <a:bodyPr/>
                    <a:lstStyle/>
                    <a:p>
                      <a:pPr algn="l" fontAlgn="b"/>
                      <a:r>
                        <a:rPr lang="en-US" sz="1000" b="0" i="0" u="none" strike="noStrike">
                          <a:solidFill>
                            <a:schemeClr val="tx1"/>
                          </a:solidFill>
                          <a:effectLst/>
                          <a:latin typeface="Segoe UI" panose="020B0502040204020203" pitchFamily="34" charset="0"/>
                        </a:rPr>
                        <a:t>7</a:t>
                      </a:r>
                    </a:p>
                  </a:txBody>
                  <a:tcPr marL="9525" marR="9525" marT="9525" marB="0" anchor="b"/>
                </a:tc>
                <a:tc>
                  <a:txBody>
                    <a:bodyPr/>
                    <a:lstStyle/>
                    <a:p>
                      <a:pPr algn="l" fontAlgn="b"/>
                      <a:r>
                        <a:rPr lang="en-US" sz="1000" b="0" i="0" u="none" strike="noStrike" dirty="0">
                          <a:solidFill>
                            <a:schemeClr val="tx1"/>
                          </a:solidFill>
                          <a:effectLst/>
                          <a:latin typeface="Segoe UI" panose="020B0502040204020203" pitchFamily="34" charset="0"/>
                        </a:rPr>
                        <a:t>IHS</a:t>
                      </a:r>
                    </a:p>
                  </a:txBody>
                  <a:tcPr marL="9525" marR="9525" marT="9525" marB="0" anchor="b"/>
                </a:tc>
                <a:tc>
                  <a:txBody>
                    <a:bodyPr/>
                    <a:lstStyle/>
                    <a:p>
                      <a:pPr algn="l" fontAlgn="b"/>
                      <a:r>
                        <a:rPr lang="en-US" sz="1000" b="0" i="0" u="none" strike="noStrike" dirty="0">
                          <a:solidFill>
                            <a:schemeClr val="tx1"/>
                          </a:solidFill>
                          <a:effectLst/>
                          <a:latin typeface="Segoe UI" panose="020B0502040204020203" pitchFamily="34" charset="0"/>
                        </a:rPr>
                        <a:t>696</a:t>
                      </a:r>
                    </a:p>
                  </a:txBody>
                  <a:tcPr marL="9525" marR="9525" marT="9525" marB="0" anchor="b"/>
                </a:tc>
                <a:extLst>
                  <a:ext uri="{0D108BD9-81ED-4DB2-BD59-A6C34878D82A}">
                    <a16:rowId xmlns:a16="http://schemas.microsoft.com/office/drawing/2014/main" val="1997627279"/>
                  </a:ext>
                </a:extLst>
              </a:tr>
              <a:tr h="370840">
                <a:tc>
                  <a:txBody>
                    <a:bodyPr/>
                    <a:lstStyle/>
                    <a:p>
                      <a:pPr algn="l" fontAlgn="b"/>
                      <a:r>
                        <a:rPr lang="en-US" sz="1000" b="0" i="0" u="none" strike="noStrike">
                          <a:solidFill>
                            <a:schemeClr val="tx1"/>
                          </a:solidFill>
                          <a:effectLst/>
                          <a:latin typeface="Segoe UI" panose="020B0502040204020203" pitchFamily="34" charset="0"/>
                        </a:rPr>
                        <a:t>8</a:t>
                      </a:r>
                    </a:p>
                  </a:txBody>
                  <a:tcPr marL="9525" marR="9525" marT="9525" marB="0" anchor="b"/>
                </a:tc>
                <a:tc>
                  <a:txBody>
                    <a:bodyPr/>
                    <a:lstStyle/>
                    <a:p>
                      <a:pPr algn="l" fontAlgn="b"/>
                      <a:r>
                        <a:rPr lang="en-US" sz="1000" b="0" i="0" u="none" strike="noStrike" dirty="0">
                          <a:solidFill>
                            <a:schemeClr val="tx1"/>
                          </a:solidFill>
                          <a:effectLst/>
                          <a:latin typeface="Segoe UI" panose="020B0502040204020203" pitchFamily="34" charset="0"/>
                        </a:rPr>
                        <a:t>NIH</a:t>
                      </a:r>
                    </a:p>
                  </a:txBody>
                  <a:tcPr marL="9525" marR="9525" marT="9525" marB="0" anchor="b"/>
                </a:tc>
                <a:tc>
                  <a:txBody>
                    <a:bodyPr/>
                    <a:lstStyle/>
                    <a:p>
                      <a:pPr algn="l" fontAlgn="b"/>
                      <a:r>
                        <a:rPr lang="en-US" sz="1000" b="0" i="0" u="none" strike="noStrike" dirty="0">
                          <a:solidFill>
                            <a:schemeClr val="tx1"/>
                          </a:solidFill>
                          <a:effectLst/>
                          <a:latin typeface="Segoe UI" panose="020B0502040204020203" pitchFamily="34" charset="0"/>
                        </a:rPr>
                        <a:t>661</a:t>
                      </a:r>
                    </a:p>
                  </a:txBody>
                  <a:tcPr marL="9525" marR="9525" marT="9525" marB="0" anchor="b"/>
                </a:tc>
                <a:extLst>
                  <a:ext uri="{0D108BD9-81ED-4DB2-BD59-A6C34878D82A}">
                    <a16:rowId xmlns:a16="http://schemas.microsoft.com/office/drawing/2014/main" val="27828124"/>
                  </a:ext>
                </a:extLst>
              </a:tr>
              <a:tr h="370840">
                <a:tc>
                  <a:txBody>
                    <a:bodyPr/>
                    <a:lstStyle/>
                    <a:p>
                      <a:pPr algn="l" fontAlgn="b"/>
                      <a:r>
                        <a:rPr lang="en-US" sz="1000" b="0" i="0" u="none" strike="noStrike">
                          <a:solidFill>
                            <a:schemeClr val="tx1"/>
                          </a:solidFill>
                          <a:effectLst/>
                          <a:latin typeface="Segoe UI" panose="020B0502040204020203" pitchFamily="34" charset="0"/>
                        </a:rPr>
                        <a:t>9</a:t>
                      </a:r>
                    </a:p>
                  </a:txBody>
                  <a:tcPr marL="9525" marR="9525" marT="9525" marB="0" anchor="b"/>
                </a:tc>
                <a:tc>
                  <a:txBody>
                    <a:bodyPr/>
                    <a:lstStyle/>
                    <a:p>
                      <a:pPr algn="l" fontAlgn="b"/>
                      <a:r>
                        <a:rPr lang="en-US" sz="1000" b="0" i="0" u="none" strike="noStrike" dirty="0">
                          <a:solidFill>
                            <a:schemeClr val="tx1"/>
                          </a:solidFill>
                          <a:effectLst/>
                          <a:latin typeface="Segoe UI" panose="020B0502040204020203" pitchFamily="34" charset="0"/>
                        </a:rPr>
                        <a:t>HHS</a:t>
                      </a:r>
                    </a:p>
                  </a:txBody>
                  <a:tcPr marL="9525" marR="9525" marT="9525" marB="0" anchor="b"/>
                </a:tc>
                <a:tc>
                  <a:txBody>
                    <a:bodyPr/>
                    <a:lstStyle/>
                    <a:p>
                      <a:pPr algn="l" fontAlgn="b"/>
                      <a:r>
                        <a:rPr lang="en-US" sz="1000" b="0" i="0" u="none" strike="noStrike" dirty="0">
                          <a:solidFill>
                            <a:schemeClr val="tx1"/>
                          </a:solidFill>
                          <a:effectLst/>
                          <a:latin typeface="Segoe UI" panose="020B0502040204020203" pitchFamily="34" charset="0"/>
                        </a:rPr>
                        <a:t>599</a:t>
                      </a:r>
                    </a:p>
                  </a:txBody>
                  <a:tcPr marL="9525" marR="9525" marT="9525" marB="0" anchor="b"/>
                </a:tc>
                <a:extLst>
                  <a:ext uri="{0D108BD9-81ED-4DB2-BD59-A6C34878D82A}">
                    <a16:rowId xmlns:a16="http://schemas.microsoft.com/office/drawing/2014/main" val="379378900"/>
                  </a:ext>
                </a:extLst>
              </a:tr>
              <a:tr h="370840">
                <a:tc>
                  <a:txBody>
                    <a:bodyPr/>
                    <a:lstStyle/>
                    <a:p>
                      <a:pPr algn="l" fontAlgn="b"/>
                      <a:r>
                        <a:rPr lang="en-US" sz="1000" b="0" i="0" u="none" strike="noStrike">
                          <a:solidFill>
                            <a:schemeClr val="tx1"/>
                          </a:solidFill>
                          <a:effectLst/>
                          <a:latin typeface="Segoe UI" panose="020B0502040204020203" pitchFamily="34" charset="0"/>
                        </a:rPr>
                        <a:t>10</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CDC</a:t>
                      </a:r>
                    </a:p>
                  </a:txBody>
                  <a:tcPr marL="9525" marR="9525" marT="9525" marB="0" anchor="b"/>
                </a:tc>
                <a:tc>
                  <a:txBody>
                    <a:bodyPr/>
                    <a:lstStyle/>
                    <a:p>
                      <a:pPr algn="l" fontAlgn="b"/>
                      <a:r>
                        <a:rPr lang="en-US" sz="1000" b="0" i="0" u="none" strike="noStrike" dirty="0">
                          <a:solidFill>
                            <a:schemeClr val="tx1"/>
                          </a:solidFill>
                          <a:effectLst/>
                          <a:latin typeface="Segoe UI" panose="020B0502040204020203" pitchFamily="34" charset="0"/>
                        </a:rPr>
                        <a:t>322</a:t>
                      </a:r>
                    </a:p>
                  </a:txBody>
                  <a:tcPr marL="9525" marR="9525" marT="9525" marB="0" anchor="b"/>
                </a:tc>
                <a:extLst>
                  <a:ext uri="{0D108BD9-81ED-4DB2-BD59-A6C34878D82A}">
                    <a16:rowId xmlns:a16="http://schemas.microsoft.com/office/drawing/2014/main" val="591856957"/>
                  </a:ext>
                </a:extLst>
              </a:tr>
            </a:tbl>
          </a:graphicData>
        </a:graphic>
      </p:graphicFrame>
    </p:spTree>
    <p:extLst>
      <p:ext uri="{BB962C8B-B14F-4D97-AF65-F5344CB8AC3E}">
        <p14:creationId xmlns:p14="http://schemas.microsoft.com/office/powerpoint/2010/main" val="2475092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6952D7-9F7C-1158-59D3-FEE048D786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4E6569-9D46-AFF0-2826-8D5881BE5C72}"/>
              </a:ext>
            </a:extLst>
          </p:cNvPr>
          <p:cNvSpPr>
            <a:spLocks noGrp="1"/>
          </p:cNvSpPr>
          <p:nvPr>
            <p:ph type="title"/>
          </p:nvPr>
        </p:nvSpPr>
        <p:spPr/>
        <p:txBody>
          <a:bodyPr/>
          <a:lstStyle/>
          <a:p>
            <a:r>
              <a:rPr lang="en-US" dirty="0"/>
              <a:t>ThreatConnect Score Comparison</a:t>
            </a:r>
          </a:p>
        </p:txBody>
      </p:sp>
      <p:sp>
        <p:nvSpPr>
          <p:cNvPr id="3" name="Content Placeholder 2">
            <a:extLst>
              <a:ext uri="{FF2B5EF4-FFF2-40B4-BE49-F238E27FC236}">
                <a16:creationId xmlns:a16="http://schemas.microsoft.com/office/drawing/2014/main" id="{277C63EB-8825-9AF5-D92E-92EFB470BE40}"/>
              </a:ext>
            </a:extLst>
          </p:cNvPr>
          <p:cNvSpPr>
            <a:spLocks noGrp="1"/>
          </p:cNvSpPr>
          <p:nvPr>
            <p:ph sz="half" idx="1"/>
          </p:nvPr>
        </p:nvSpPr>
        <p:spPr>
          <a:xfrm>
            <a:off x="6204247" y="1821524"/>
            <a:ext cx="5354652" cy="4339994"/>
          </a:xfrm>
        </p:spPr>
        <p:txBody>
          <a:bodyPr>
            <a:normAutofit/>
          </a:bodyPr>
          <a:lstStyle/>
          <a:p>
            <a:pPr marL="0" indent="0">
              <a:buNone/>
            </a:pPr>
            <a:r>
              <a:rPr lang="en-US" sz="1400" dirty="0"/>
              <a:t>We compared </a:t>
            </a:r>
            <a:r>
              <a:rPr lang="en-US" sz="1400" dirty="0">
                <a:latin typeface="Segoe UI" panose="020B0502040204020203" pitchFamily="34" charset="0"/>
              </a:rPr>
              <a:t>1496</a:t>
            </a:r>
            <a:r>
              <a:rPr lang="en-US" sz="1400" dirty="0"/>
              <a:t> indicators to see how ThreatConnect’s scores differ from our HTOC scoring model. </a:t>
            </a:r>
          </a:p>
          <a:p>
            <a:r>
              <a:rPr lang="en-US" sz="1400" dirty="0"/>
              <a:t>On average, ThreatConnect rated indicators much higher, while our current model scored them noticeably lower. </a:t>
            </a:r>
          </a:p>
          <a:p>
            <a:r>
              <a:rPr lang="en-US" sz="1400" dirty="0"/>
              <a:t>The typical difference between the two models was around 150–190 points lower under our system. </a:t>
            </a:r>
          </a:p>
          <a:p>
            <a:r>
              <a:rPr lang="en-US" sz="1400" dirty="0"/>
              <a:t>Only about 10% of indicators increased in score, while nearly 90% went down, showing a consistent shift toward more conservative scoring. More than half of all indicators had large changes of 100 points or more, which highlights just how differently the two systems evaluate threat severity. </a:t>
            </a:r>
          </a:p>
          <a:p>
            <a:r>
              <a:rPr lang="en-US" sz="1400" dirty="0"/>
              <a:t>Overall, this tells us that our new scoring approach is more selective, focuses on the factors we consider most important, and avoids over-inflating threat levels—resulting in a clearer, more realistic view of which indicators truly deserve attention.</a:t>
            </a:r>
          </a:p>
        </p:txBody>
      </p:sp>
      <p:graphicFrame>
        <p:nvGraphicFramePr>
          <p:cNvPr id="10" name="Content Placeholder 9">
            <a:extLst>
              <a:ext uri="{FF2B5EF4-FFF2-40B4-BE49-F238E27FC236}">
                <a16:creationId xmlns:a16="http://schemas.microsoft.com/office/drawing/2014/main" id="{0F26843A-4262-F453-B200-055395CC28BA}"/>
              </a:ext>
            </a:extLst>
          </p:cNvPr>
          <p:cNvGraphicFramePr>
            <a:graphicFrameLocks noGrp="1"/>
          </p:cNvGraphicFramePr>
          <p:nvPr>
            <p:ph sz="half" idx="2"/>
            <p:extLst>
              <p:ext uri="{D42A27DB-BD31-4B8C-83A1-F6EECF244321}">
                <p14:modId xmlns:p14="http://schemas.microsoft.com/office/powerpoint/2010/main" val="2699267536"/>
              </p:ext>
            </p:extLst>
          </p:nvPr>
        </p:nvGraphicFramePr>
        <p:xfrm>
          <a:off x="1295400" y="1821524"/>
          <a:ext cx="4572000" cy="4079240"/>
        </p:xfrm>
        <a:graphic>
          <a:graphicData uri="http://schemas.openxmlformats.org/drawingml/2006/table">
            <a:tbl>
              <a:tblPr firstRow="1" bandRow="1">
                <a:tableStyleId>{BC89EF96-8CEA-46FF-86C4-4CE0E7609802}</a:tableStyleId>
              </a:tblPr>
              <a:tblGrid>
                <a:gridCol w="2286000">
                  <a:extLst>
                    <a:ext uri="{9D8B030D-6E8A-4147-A177-3AD203B41FA5}">
                      <a16:colId xmlns:a16="http://schemas.microsoft.com/office/drawing/2014/main" val="3664601522"/>
                    </a:ext>
                  </a:extLst>
                </a:gridCol>
                <a:gridCol w="2286000">
                  <a:extLst>
                    <a:ext uri="{9D8B030D-6E8A-4147-A177-3AD203B41FA5}">
                      <a16:colId xmlns:a16="http://schemas.microsoft.com/office/drawing/2014/main" val="1846867194"/>
                    </a:ext>
                  </a:extLst>
                </a:gridCol>
              </a:tblGrid>
              <a:tr h="370840">
                <a:tc>
                  <a:txBody>
                    <a:bodyPr/>
                    <a:lstStyle/>
                    <a:p>
                      <a:pPr algn="l" fontAlgn="b"/>
                      <a:r>
                        <a:rPr lang="en-US" sz="1200" b="1" i="0" u="none" strike="noStrike">
                          <a:solidFill>
                            <a:schemeClr val="tx1"/>
                          </a:solidFill>
                          <a:effectLst/>
                          <a:latin typeface="Segoe UI" panose="020B0502040204020203" pitchFamily="34" charset="0"/>
                        </a:rPr>
                        <a:t>Metric</a:t>
                      </a:r>
                    </a:p>
                  </a:txBody>
                  <a:tcPr marL="9525" marR="9525" marT="9525" marB="0" anchor="b"/>
                </a:tc>
                <a:tc>
                  <a:txBody>
                    <a:bodyPr/>
                    <a:lstStyle/>
                    <a:p>
                      <a:pPr algn="l" fontAlgn="b"/>
                      <a:r>
                        <a:rPr lang="en-US" sz="1200" b="1" i="0" u="none" strike="noStrike">
                          <a:solidFill>
                            <a:schemeClr val="tx1"/>
                          </a:solidFill>
                          <a:effectLst/>
                          <a:latin typeface="Segoe UI" panose="020B0502040204020203" pitchFamily="34" charset="0"/>
                        </a:rPr>
                        <a:t>Value</a:t>
                      </a:r>
                    </a:p>
                  </a:txBody>
                  <a:tcPr marL="9525" marR="9525" marT="9525" marB="0" anchor="b"/>
                </a:tc>
                <a:extLst>
                  <a:ext uri="{0D108BD9-81ED-4DB2-BD59-A6C34878D82A}">
                    <a16:rowId xmlns:a16="http://schemas.microsoft.com/office/drawing/2014/main" val="584323243"/>
                  </a:ext>
                </a:extLst>
              </a:tr>
              <a:tr h="370840">
                <a:tc>
                  <a:txBody>
                    <a:bodyPr/>
                    <a:lstStyle/>
                    <a:p>
                      <a:pPr algn="l" fontAlgn="b"/>
                      <a:r>
                        <a:rPr lang="en-US" sz="1000" b="0" i="0" u="none" strike="noStrike">
                          <a:solidFill>
                            <a:schemeClr val="tx1"/>
                          </a:solidFill>
                          <a:effectLst/>
                          <a:latin typeface="Segoe UI" panose="020B0502040204020203" pitchFamily="34" charset="0"/>
                        </a:rPr>
                        <a:t>Total Indicators Compared</a:t>
                      </a:r>
                    </a:p>
                  </a:txBody>
                  <a:tcPr marL="9525" marR="9525" marT="9525" marB="0" anchor="b"/>
                </a:tc>
                <a:tc>
                  <a:txBody>
                    <a:bodyPr/>
                    <a:lstStyle/>
                    <a:p>
                      <a:pPr algn="l" fontAlgn="b"/>
                      <a:r>
                        <a:rPr lang="en-US" sz="1000" b="0" i="0" u="none" strike="noStrike" dirty="0">
                          <a:solidFill>
                            <a:schemeClr val="tx1"/>
                          </a:solidFill>
                          <a:effectLst/>
                          <a:latin typeface="Segoe UI" panose="020B0502040204020203" pitchFamily="34" charset="0"/>
                        </a:rPr>
                        <a:t>1496</a:t>
                      </a:r>
                    </a:p>
                  </a:txBody>
                  <a:tcPr marL="9525" marR="9525" marT="9525" marB="0" anchor="b"/>
                </a:tc>
                <a:extLst>
                  <a:ext uri="{0D108BD9-81ED-4DB2-BD59-A6C34878D82A}">
                    <a16:rowId xmlns:a16="http://schemas.microsoft.com/office/drawing/2014/main" val="541659156"/>
                  </a:ext>
                </a:extLst>
              </a:tr>
              <a:tr h="370840">
                <a:tc>
                  <a:txBody>
                    <a:bodyPr/>
                    <a:lstStyle/>
                    <a:p>
                      <a:pPr algn="l" fontAlgn="b"/>
                      <a:r>
                        <a:rPr lang="en-US" sz="1000" b="0" i="0" u="none" strike="noStrike">
                          <a:solidFill>
                            <a:schemeClr val="tx1"/>
                          </a:solidFill>
                          <a:effectLst/>
                          <a:latin typeface="Segoe UI" panose="020B0502040204020203" pitchFamily="34" charset="0"/>
                        </a:rPr>
                        <a:t>Average ThreatConnect Score</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461.42</a:t>
                      </a:r>
                    </a:p>
                  </a:txBody>
                  <a:tcPr marL="9525" marR="9525" marT="9525" marB="0" anchor="b"/>
                </a:tc>
                <a:extLst>
                  <a:ext uri="{0D108BD9-81ED-4DB2-BD59-A6C34878D82A}">
                    <a16:rowId xmlns:a16="http://schemas.microsoft.com/office/drawing/2014/main" val="1481991587"/>
                  </a:ext>
                </a:extLst>
              </a:tr>
              <a:tr h="370840">
                <a:tc>
                  <a:txBody>
                    <a:bodyPr/>
                    <a:lstStyle/>
                    <a:p>
                      <a:pPr algn="l" fontAlgn="b"/>
                      <a:r>
                        <a:rPr lang="en-US" sz="1000" b="0" i="0" u="none" strike="noStrike" dirty="0">
                          <a:solidFill>
                            <a:schemeClr val="tx1"/>
                          </a:solidFill>
                          <a:effectLst/>
                          <a:latin typeface="Segoe UI" panose="020B0502040204020203" pitchFamily="34" charset="0"/>
                        </a:rPr>
                        <a:t>Average HTOC Score</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272.82</a:t>
                      </a:r>
                    </a:p>
                  </a:txBody>
                  <a:tcPr marL="9525" marR="9525" marT="9525" marB="0" anchor="b"/>
                </a:tc>
                <a:extLst>
                  <a:ext uri="{0D108BD9-81ED-4DB2-BD59-A6C34878D82A}">
                    <a16:rowId xmlns:a16="http://schemas.microsoft.com/office/drawing/2014/main" val="3647839200"/>
                  </a:ext>
                </a:extLst>
              </a:tr>
              <a:tr h="370840">
                <a:tc>
                  <a:txBody>
                    <a:bodyPr/>
                    <a:lstStyle/>
                    <a:p>
                      <a:pPr algn="l" fontAlgn="b"/>
                      <a:r>
                        <a:rPr lang="en-US" sz="1000" b="0" i="0" u="none" strike="noStrike" dirty="0">
                          <a:solidFill>
                            <a:schemeClr val="tx1"/>
                          </a:solidFill>
                          <a:effectLst/>
                          <a:latin typeface="Segoe UI" panose="020B0502040204020203" pitchFamily="34" charset="0"/>
                        </a:rPr>
                        <a:t>Average Score Difference</a:t>
                      </a:r>
                    </a:p>
                  </a:txBody>
                  <a:tcPr marL="9525" marR="9525" marT="9525" marB="0" anchor="b"/>
                </a:tc>
                <a:tc>
                  <a:txBody>
                    <a:bodyPr/>
                    <a:lstStyle/>
                    <a:p>
                      <a:pPr algn="l" fontAlgn="b"/>
                      <a:r>
                        <a:rPr lang="en-US" sz="1000" b="0" i="0" u="none" strike="noStrike" dirty="0">
                          <a:solidFill>
                            <a:schemeClr val="tx1"/>
                          </a:solidFill>
                          <a:effectLst/>
                          <a:latin typeface="Segoe UI" panose="020B0502040204020203" pitchFamily="34" charset="0"/>
                        </a:rPr>
                        <a:t>-188.60</a:t>
                      </a:r>
                    </a:p>
                  </a:txBody>
                  <a:tcPr marL="9525" marR="9525" marT="9525" marB="0" anchor="b"/>
                </a:tc>
                <a:extLst>
                  <a:ext uri="{0D108BD9-81ED-4DB2-BD59-A6C34878D82A}">
                    <a16:rowId xmlns:a16="http://schemas.microsoft.com/office/drawing/2014/main" val="2954141178"/>
                  </a:ext>
                </a:extLst>
              </a:tr>
              <a:tr h="370840">
                <a:tc>
                  <a:txBody>
                    <a:bodyPr/>
                    <a:lstStyle/>
                    <a:p>
                      <a:pPr algn="l" fontAlgn="b"/>
                      <a:r>
                        <a:rPr lang="en-US" sz="1000" b="0" i="0" u="none" strike="noStrike" dirty="0">
                          <a:solidFill>
                            <a:schemeClr val="tx1"/>
                          </a:solidFill>
                          <a:effectLst/>
                          <a:latin typeface="Segoe UI" panose="020B0502040204020203" pitchFamily="34" charset="0"/>
                        </a:rPr>
                        <a:t>Median Score Difference</a:t>
                      </a:r>
                    </a:p>
                  </a:txBody>
                  <a:tcPr marL="9525" marR="9525" marT="9525" marB="0" anchor="b"/>
                </a:tc>
                <a:tc>
                  <a:txBody>
                    <a:bodyPr/>
                    <a:lstStyle/>
                    <a:p>
                      <a:pPr algn="l" fontAlgn="b"/>
                      <a:r>
                        <a:rPr lang="en-US" sz="1000" b="0" i="0" u="none" strike="noStrike" dirty="0">
                          <a:solidFill>
                            <a:schemeClr val="tx1"/>
                          </a:solidFill>
                          <a:effectLst/>
                          <a:latin typeface="Segoe UI" panose="020B0502040204020203" pitchFamily="34" charset="0"/>
                        </a:rPr>
                        <a:t>-159.50</a:t>
                      </a:r>
                    </a:p>
                  </a:txBody>
                  <a:tcPr marL="9525" marR="9525" marT="9525" marB="0" anchor="b"/>
                </a:tc>
                <a:extLst>
                  <a:ext uri="{0D108BD9-81ED-4DB2-BD59-A6C34878D82A}">
                    <a16:rowId xmlns:a16="http://schemas.microsoft.com/office/drawing/2014/main" val="3494182518"/>
                  </a:ext>
                </a:extLst>
              </a:tr>
              <a:tr h="370840">
                <a:tc>
                  <a:txBody>
                    <a:bodyPr/>
                    <a:lstStyle/>
                    <a:p>
                      <a:pPr algn="l" fontAlgn="b"/>
                      <a:r>
                        <a:rPr lang="en-US" sz="1000" b="0" i="0" u="none" strike="noStrike" dirty="0">
                          <a:solidFill>
                            <a:schemeClr val="tx1"/>
                          </a:solidFill>
                          <a:effectLst/>
                          <a:latin typeface="Segoe UI" panose="020B0502040204020203" pitchFamily="34" charset="0"/>
                        </a:rPr>
                        <a:t>Score Improvements Count</a:t>
                      </a:r>
                    </a:p>
                  </a:txBody>
                  <a:tcPr marL="9525" marR="9525" marT="9525" marB="0" anchor="b"/>
                </a:tc>
                <a:tc>
                  <a:txBody>
                    <a:bodyPr/>
                    <a:lstStyle/>
                    <a:p>
                      <a:pPr algn="l" fontAlgn="b"/>
                      <a:r>
                        <a:rPr lang="en-US" sz="1000" b="0" i="0" u="none" strike="noStrike" dirty="0">
                          <a:solidFill>
                            <a:schemeClr val="tx1"/>
                          </a:solidFill>
                          <a:effectLst/>
                          <a:latin typeface="Segoe UI" panose="020B0502040204020203" pitchFamily="34" charset="0"/>
                        </a:rPr>
                        <a:t>186</a:t>
                      </a:r>
                    </a:p>
                  </a:txBody>
                  <a:tcPr marL="9525" marR="9525" marT="9525" marB="0" anchor="b"/>
                </a:tc>
                <a:extLst>
                  <a:ext uri="{0D108BD9-81ED-4DB2-BD59-A6C34878D82A}">
                    <a16:rowId xmlns:a16="http://schemas.microsoft.com/office/drawing/2014/main" val="2124093652"/>
                  </a:ext>
                </a:extLst>
              </a:tr>
              <a:tr h="370840">
                <a:tc>
                  <a:txBody>
                    <a:bodyPr/>
                    <a:lstStyle/>
                    <a:p>
                      <a:pPr algn="l" fontAlgn="b"/>
                      <a:r>
                        <a:rPr lang="en-US" sz="1000" b="0" i="0" u="none" strike="noStrike">
                          <a:solidFill>
                            <a:schemeClr val="tx1"/>
                          </a:solidFill>
                          <a:effectLst/>
                          <a:latin typeface="Segoe UI" panose="020B0502040204020203" pitchFamily="34" charset="0"/>
                        </a:rPr>
                        <a:t>Score Improvements %</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10.1%</a:t>
                      </a:r>
                    </a:p>
                  </a:txBody>
                  <a:tcPr marL="9525" marR="9525" marT="9525" marB="0" anchor="b"/>
                </a:tc>
                <a:extLst>
                  <a:ext uri="{0D108BD9-81ED-4DB2-BD59-A6C34878D82A}">
                    <a16:rowId xmlns:a16="http://schemas.microsoft.com/office/drawing/2014/main" val="188256610"/>
                  </a:ext>
                </a:extLst>
              </a:tr>
              <a:tr h="370840">
                <a:tc>
                  <a:txBody>
                    <a:bodyPr/>
                    <a:lstStyle/>
                    <a:p>
                      <a:pPr algn="l" fontAlgn="b"/>
                      <a:r>
                        <a:rPr lang="en-US" sz="1000" b="0" i="0" u="none" strike="noStrike">
                          <a:solidFill>
                            <a:schemeClr val="tx1"/>
                          </a:solidFill>
                          <a:effectLst/>
                          <a:latin typeface="Segoe UI" panose="020B0502040204020203" pitchFamily="34" charset="0"/>
                        </a:rPr>
                        <a:t>Score Degradations Count</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1650</a:t>
                      </a:r>
                    </a:p>
                  </a:txBody>
                  <a:tcPr marL="9525" marR="9525" marT="9525" marB="0" anchor="b"/>
                </a:tc>
                <a:extLst>
                  <a:ext uri="{0D108BD9-81ED-4DB2-BD59-A6C34878D82A}">
                    <a16:rowId xmlns:a16="http://schemas.microsoft.com/office/drawing/2014/main" val="2345243845"/>
                  </a:ext>
                </a:extLst>
              </a:tr>
              <a:tr h="370840">
                <a:tc>
                  <a:txBody>
                    <a:bodyPr/>
                    <a:lstStyle/>
                    <a:p>
                      <a:pPr algn="l" fontAlgn="b"/>
                      <a:r>
                        <a:rPr lang="en-US" sz="1000" b="0" i="0" u="none" strike="noStrike">
                          <a:solidFill>
                            <a:schemeClr val="tx1"/>
                          </a:solidFill>
                          <a:effectLst/>
                          <a:latin typeface="Segoe UI" panose="020B0502040204020203" pitchFamily="34" charset="0"/>
                        </a:rPr>
                        <a:t>Score Degradations %</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89.9%</a:t>
                      </a:r>
                    </a:p>
                  </a:txBody>
                  <a:tcPr marL="9525" marR="9525" marT="9525" marB="0" anchor="b"/>
                </a:tc>
                <a:extLst>
                  <a:ext uri="{0D108BD9-81ED-4DB2-BD59-A6C34878D82A}">
                    <a16:rowId xmlns:a16="http://schemas.microsoft.com/office/drawing/2014/main" val="3567404600"/>
                  </a:ext>
                </a:extLst>
              </a:tr>
              <a:tr h="370840">
                <a:tc>
                  <a:txBody>
                    <a:bodyPr/>
                    <a:lstStyle/>
                    <a:p>
                      <a:pPr algn="l" fontAlgn="b"/>
                      <a:r>
                        <a:rPr lang="en-US" sz="1000" b="0" i="0" u="none" strike="noStrike">
                          <a:solidFill>
                            <a:schemeClr val="tx1"/>
                          </a:solidFill>
                          <a:effectLst/>
                          <a:latin typeface="Segoe UI" panose="020B0502040204020203" pitchFamily="34" charset="0"/>
                        </a:rPr>
                        <a:t>Large Changes (≥100 points)</a:t>
                      </a:r>
                    </a:p>
                  </a:txBody>
                  <a:tcPr marL="9525" marR="9525" marT="9525" marB="0" anchor="b"/>
                </a:tc>
                <a:tc>
                  <a:txBody>
                    <a:bodyPr/>
                    <a:lstStyle/>
                    <a:p>
                      <a:pPr algn="l" fontAlgn="b"/>
                      <a:r>
                        <a:rPr lang="en-US" sz="1000" b="0" i="0" u="none" strike="noStrike" dirty="0">
                          <a:solidFill>
                            <a:schemeClr val="tx1"/>
                          </a:solidFill>
                          <a:effectLst/>
                          <a:latin typeface="Segoe UI" panose="020B0502040204020203" pitchFamily="34" charset="0"/>
                        </a:rPr>
                        <a:t>1172</a:t>
                      </a:r>
                    </a:p>
                  </a:txBody>
                  <a:tcPr marL="9525" marR="9525" marT="9525" marB="0" anchor="b"/>
                </a:tc>
                <a:extLst>
                  <a:ext uri="{0D108BD9-81ED-4DB2-BD59-A6C34878D82A}">
                    <a16:rowId xmlns:a16="http://schemas.microsoft.com/office/drawing/2014/main" val="3996096361"/>
                  </a:ext>
                </a:extLst>
              </a:tr>
            </a:tbl>
          </a:graphicData>
        </a:graphic>
      </p:graphicFrame>
    </p:spTree>
    <p:extLst>
      <p:ext uri="{BB962C8B-B14F-4D97-AF65-F5344CB8AC3E}">
        <p14:creationId xmlns:p14="http://schemas.microsoft.com/office/powerpoint/2010/main" val="8867117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20EF81-F8F1-1044-36E3-4140A89592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DDE1BB-EBB1-92FC-0577-4DDF474225FF}"/>
              </a:ext>
            </a:extLst>
          </p:cNvPr>
          <p:cNvSpPr>
            <a:spLocks noGrp="1"/>
          </p:cNvSpPr>
          <p:nvPr>
            <p:ph type="title"/>
          </p:nvPr>
        </p:nvSpPr>
        <p:spPr/>
        <p:txBody>
          <a:bodyPr/>
          <a:lstStyle/>
          <a:p>
            <a:r>
              <a:rPr lang="en-US" dirty="0"/>
              <a:t>Top 20 Largest Score Difference</a:t>
            </a:r>
          </a:p>
        </p:txBody>
      </p:sp>
      <p:sp>
        <p:nvSpPr>
          <p:cNvPr id="3" name="Content Placeholder 2">
            <a:extLst>
              <a:ext uri="{FF2B5EF4-FFF2-40B4-BE49-F238E27FC236}">
                <a16:creationId xmlns:a16="http://schemas.microsoft.com/office/drawing/2014/main" id="{D89CB0E7-D36F-3041-7145-641CC5B593EE}"/>
              </a:ext>
            </a:extLst>
          </p:cNvPr>
          <p:cNvSpPr>
            <a:spLocks noGrp="1"/>
          </p:cNvSpPr>
          <p:nvPr>
            <p:ph sz="half" idx="1"/>
          </p:nvPr>
        </p:nvSpPr>
        <p:spPr>
          <a:xfrm>
            <a:off x="6204247" y="1646238"/>
            <a:ext cx="5354652" cy="4515280"/>
          </a:xfrm>
        </p:spPr>
        <p:txBody>
          <a:bodyPr>
            <a:normAutofit/>
          </a:bodyPr>
          <a:lstStyle/>
          <a:p>
            <a:pPr marL="0" indent="0">
              <a:buNone/>
            </a:pPr>
            <a:r>
              <a:rPr lang="en-US" sz="1400" dirty="0"/>
              <a:t>When comparing HTOC threat scores to ThreatConnect’s, several factors can explain the differences. The HTOC model relies on a consistent, rule-based, AI-driven approach, while ThreatConnect uses a built-in scoring formula that can be manually adjusted by users. Because ThreatConnect allows individual users to modify both the score and associated threat level, those values may reflect personal judgment rather than standardized criteria or broader cyber intelligence research.</a:t>
            </a:r>
          </a:p>
        </p:txBody>
      </p:sp>
      <p:graphicFrame>
        <p:nvGraphicFramePr>
          <p:cNvPr id="6" name="Content Placeholder 5">
            <a:extLst>
              <a:ext uri="{FF2B5EF4-FFF2-40B4-BE49-F238E27FC236}">
                <a16:creationId xmlns:a16="http://schemas.microsoft.com/office/drawing/2014/main" id="{958933C3-DAF5-322D-AE8F-8B1B475F39E6}"/>
              </a:ext>
            </a:extLst>
          </p:cNvPr>
          <p:cNvGraphicFramePr>
            <a:graphicFrameLocks noGrp="1"/>
          </p:cNvGraphicFramePr>
          <p:nvPr>
            <p:ph sz="half" idx="2"/>
            <p:extLst>
              <p:ext uri="{D42A27DB-BD31-4B8C-83A1-F6EECF244321}">
                <p14:modId xmlns:p14="http://schemas.microsoft.com/office/powerpoint/2010/main" val="2669085620"/>
              </p:ext>
            </p:extLst>
          </p:nvPr>
        </p:nvGraphicFramePr>
        <p:xfrm>
          <a:off x="849597" y="1646238"/>
          <a:ext cx="5354650" cy="4340001"/>
        </p:xfrm>
        <a:graphic>
          <a:graphicData uri="http://schemas.openxmlformats.org/drawingml/2006/table">
            <a:tbl>
              <a:tblPr firstRow="1" bandRow="1">
                <a:tableStyleId>{BC89EF96-8CEA-46FF-86C4-4CE0E7609802}</a:tableStyleId>
              </a:tblPr>
              <a:tblGrid>
                <a:gridCol w="1070930">
                  <a:extLst>
                    <a:ext uri="{9D8B030D-6E8A-4147-A177-3AD203B41FA5}">
                      <a16:colId xmlns:a16="http://schemas.microsoft.com/office/drawing/2014/main" val="62965854"/>
                    </a:ext>
                  </a:extLst>
                </a:gridCol>
                <a:gridCol w="1070930">
                  <a:extLst>
                    <a:ext uri="{9D8B030D-6E8A-4147-A177-3AD203B41FA5}">
                      <a16:colId xmlns:a16="http://schemas.microsoft.com/office/drawing/2014/main" val="820832956"/>
                    </a:ext>
                  </a:extLst>
                </a:gridCol>
                <a:gridCol w="1070930">
                  <a:extLst>
                    <a:ext uri="{9D8B030D-6E8A-4147-A177-3AD203B41FA5}">
                      <a16:colId xmlns:a16="http://schemas.microsoft.com/office/drawing/2014/main" val="1750144742"/>
                    </a:ext>
                  </a:extLst>
                </a:gridCol>
                <a:gridCol w="1070930">
                  <a:extLst>
                    <a:ext uri="{9D8B030D-6E8A-4147-A177-3AD203B41FA5}">
                      <a16:colId xmlns:a16="http://schemas.microsoft.com/office/drawing/2014/main" val="3754244331"/>
                    </a:ext>
                  </a:extLst>
                </a:gridCol>
                <a:gridCol w="1070930">
                  <a:extLst>
                    <a:ext uri="{9D8B030D-6E8A-4147-A177-3AD203B41FA5}">
                      <a16:colId xmlns:a16="http://schemas.microsoft.com/office/drawing/2014/main" val="2934677912"/>
                    </a:ext>
                  </a:extLst>
                </a:gridCol>
              </a:tblGrid>
              <a:tr h="359588">
                <a:tc>
                  <a:txBody>
                    <a:bodyPr/>
                    <a:lstStyle/>
                    <a:p>
                      <a:pPr algn="l" fontAlgn="b"/>
                      <a:r>
                        <a:rPr lang="en-US" sz="1200" b="1" i="0" u="none" strike="noStrike" dirty="0">
                          <a:solidFill>
                            <a:schemeClr val="tx1"/>
                          </a:solidFill>
                          <a:effectLst/>
                          <a:latin typeface="Segoe UI" panose="020B0502040204020203" pitchFamily="34" charset="0"/>
                        </a:rPr>
                        <a:t>Rank</a:t>
                      </a:r>
                    </a:p>
                  </a:txBody>
                  <a:tcPr marL="9525" marR="9525" marT="9525" marB="0" anchor="b"/>
                </a:tc>
                <a:tc>
                  <a:txBody>
                    <a:bodyPr/>
                    <a:lstStyle/>
                    <a:p>
                      <a:pPr algn="l" fontAlgn="b"/>
                      <a:r>
                        <a:rPr lang="en-US" sz="1200" b="1" i="0" u="none" strike="noStrike" dirty="0">
                          <a:solidFill>
                            <a:schemeClr val="tx1"/>
                          </a:solidFill>
                          <a:effectLst/>
                          <a:latin typeface="Segoe UI" panose="020B0502040204020203" pitchFamily="34" charset="0"/>
                        </a:rPr>
                        <a:t>Indicator</a:t>
                      </a:r>
                    </a:p>
                  </a:txBody>
                  <a:tcPr marL="9525" marR="9525" marT="9525" marB="0" anchor="b"/>
                </a:tc>
                <a:tc>
                  <a:txBody>
                    <a:bodyPr/>
                    <a:lstStyle/>
                    <a:p>
                      <a:pPr algn="l" fontAlgn="b"/>
                      <a:r>
                        <a:rPr lang="en-US" sz="1100" b="1" i="0" u="none" strike="noStrike" dirty="0">
                          <a:solidFill>
                            <a:schemeClr val="tx1"/>
                          </a:solidFill>
                          <a:effectLst/>
                          <a:latin typeface="Segoe UI" panose="020B0502040204020203" pitchFamily="34" charset="0"/>
                        </a:rPr>
                        <a:t>ThreatConnect Score</a:t>
                      </a:r>
                    </a:p>
                  </a:txBody>
                  <a:tcPr marL="9525" marR="9525" marT="9525" marB="0" anchor="b"/>
                </a:tc>
                <a:tc>
                  <a:txBody>
                    <a:bodyPr/>
                    <a:lstStyle/>
                    <a:p>
                      <a:pPr algn="l" fontAlgn="b"/>
                      <a:r>
                        <a:rPr lang="en-US" sz="1200" b="1" i="0" u="none" strike="noStrike" dirty="0">
                          <a:solidFill>
                            <a:schemeClr val="tx1"/>
                          </a:solidFill>
                          <a:effectLst/>
                          <a:latin typeface="Segoe UI" panose="020B0502040204020203" pitchFamily="34" charset="0"/>
                        </a:rPr>
                        <a:t>HTOC Score</a:t>
                      </a:r>
                    </a:p>
                  </a:txBody>
                  <a:tcPr marL="9525" marR="9525" marT="9525" marB="0" anchor="b"/>
                </a:tc>
                <a:tc>
                  <a:txBody>
                    <a:bodyPr/>
                    <a:lstStyle/>
                    <a:p>
                      <a:pPr algn="l" fontAlgn="b"/>
                      <a:r>
                        <a:rPr lang="en-US" sz="1200" b="1" i="0" u="none" strike="noStrike">
                          <a:solidFill>
                            <a:schemeClr val="tx1"/>
                          </a:solidFill>
                          <a:effectLst/>
                          <a:latin typeface="Segoe UI" panose="020B0502040204020203" pitchFamily="34" charset="0"/>
                        </a:rPr>
                        <a:t>Difference</a:t>
                      </a:r>
                    </a:p>
                  </a:txBody>
                  <a:tcPr marL="9525" marR="9525" marT="9525" marB="0" anchor="b"/>
                </a:tc>
                <a:extLst>
                  <a:ext uri="{0D108BD9-81ED-4DB2-BD59-A6C34878D82A}">
                    <a16:rowId xmlns:a16="http://schemas.microsoft.com/office/drawing/2014/main" val="1065218852"/>
                  </a:ext>
                </a:extLst>
              </a:tr>
              <a:tr h="181064">
                <a:tc>
                  <a:txBody>
                    <a:bodyPr/>
                    <a:lstStyle/>
                    <a:p>
                      <a:pPr algn="l" fontAlgn="b"/>
                      <a:r>
                        <a:rPr lang="en-US" sz="1000" b="0" i="0" u="none" strike="noStrike">
                          <a:solidFill>
                            <a:schemeClr val="tx1"/>
                          </a:solidFill>
                          <a:effectLst/>
                          <a:latin typeface="Segoe UI" panose="020B0502040204020203" pitchFamily="34" charset="0"/>
                        </a:rPr>
                        <a:t>1</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171.25.193.25</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297</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748</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451</a:t>
                      </a:r>
                    </a:p>
                  </a:txBody>
                  <a:tcPr marL="9525" marR="9525" marT="9525" marB="0" anchor="b"/>
                </a:tc>
                <a:extLst>
                  <a:ext uri="{0D108BD9-81ED-4DB2-BD59-A6C34878D82A}">
                    <a16:rowId xmlns:a16="http://schemas.microsoft.com/office/drawing/2014/main" val="1689576494"/>
                  </a:ext>
                </a:extLst>
              </a:tr>
              <a:tr h="181064">
                <a:tc>
                  <a:txBody>
                    <a:bodyPr/>
                    <a:lstStyle/>
                    <a:p>
                      <a:pPr algn="l" fontAlgn="b"/>
                      <a:r>
                        <a:rPr lang="en-US" sz="1000" b="0" i="0" u="none" strike="noStrike">
                          <a:solidFill>
                            <a:schemeClr val="tx1"/>
                          </a:solidFill>
                          <a:effectLst/>
                          <a:latin typeface="Segoe UI" panose="020B0502040204020203" pitchFamily="34" charset="0"/>
                        </a:rPr>
                        <a:t>2</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146.70.79.78</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326</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719</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393</a:t>
                      </a:r>
                    </a:p>
                  </a:txBody>
                  <a:tcPr marL="9525" marR="9525" marT="9525" marB="0" anchor="b"/>
                </a:tc>
                <a:extLst>
                  <a:ext uri="{0D108BD9-81ED-4DB2-BD59-A6C34878D82A}">
                    <a16:rowId xmlns:a16="http://schemas.microsoft.com/office/drawing/2014/main" val="3060390953"/>
                  </a:ext>
                </a:extLst>
              </a:tr>
              <a:tr h="181064">
                <a:tc>
                  <a:txBody>
                    <a:bodyPr/>
                    <a:lstStyle/>
                    <a:p>
                      <a:pPr algn="l" fontAlgn="b"/>
                      <a:r>
                        <a:rPr lang="en-US" sz="1000" b="0" i="0" u="none" strike="noStrike">
                          <a:solidFill>
                            <a:schemeClr val="tx1"/>
                          </a:solidFill>
                          <a:effectLst/>
                          <a:latin typeface="Segoe UI" panose="020B0502040204020203" pitchFamily="34" charset="0"/>
                        </a:rPr>
                        <a:t>3</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171.25.193.132</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282</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670</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388</a:t>
                      </a:r>
                    </a:p>
                  </a:txBody>
                  <a:tcPr marL="9525" marR="9525" marT="9525" marB="0" anchor="b"/>
                </a:tc>
                <a:extLst>
                  <a:ext uri="{0D108BD9-81ED-4DB2-BD59-A6C34878D82A}">
                    <a16:rowId xmlns:a16="http://schemas.microsoft.com/office/drawing/2014/main" val="1478271997"/>
                  </a:ext>
                </a:extLst>
              </a:tr>
              <a:tr h="300775">
                <a:tc>
                  <a:txBody>
                    <a:bodyPr/>
                    <a:lstStyle/>
                    <a:p>
                      <a:pPr algn="l" fontAlgn="b"/>
                      <a:r>
                        <a:rPr lang="en-US" sz="1000" b="0" i="0" u="none" strike="noStrike">
                          <a:solidFill>
                            <a:schemeClr val="tx1"/>
                          </a:solidFill>
                          <a:effectLst/>
                          <a:latin typeface="Segoe UI" panose="020B0502040204020203" pitchFamily="34" charset="0"/>
                        </a:rPr>
                        <a:t>4</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193.189.100.195</a:t>
                      </a:r>
                    </a:p>
                  </a:txBody>
                  <a:tcPr marL="9525" marR="9525" marT="9525" marB="0" anchor="b"/>
                </a:tc>
                <a:tc>
                  <a:txBody>
                    <a:bodyPr/>
                    <a:lstStyle/>
                    <a:p>
                      <a:pPr algn="l" fontAlgn="b"/>
                      <a:r>
                        <a:rPr lang="en-US" sz="1000" b="0" i="0" u="none" strike="noStrike" dirty="0">
                          <a:solidFill>
                            <a:schemeClr val="tx1"/>
                          </a:solidFill>
                          <a:effectLst/>
                          <a:latin typeface="Segoe UI" panose="020B0502040204020203" pitchFamily="34" charset="0"/>
                        </a:rPr>
                        <a:t>323</a:t>
                      </a:r>
                    </a:p>
                  </a:txBody>
                  <a:tcPr marL="9525" marR="9525" marT="9525" marB="0" anchor="b"/>
                </a:tc>
                <a:tc>
                  <a:txBody>
                    <a:bodyPr/>
                    <a:lstStyle/>
                    <a:p>
                      <a:pPr algn="l" fontAlgn="b"/>
                      <a:r>
                        <a:rPr lang="en-US" sz="1000" b="0" i="0" u="none" strike="noStrike" dirty="0">
                          <a:solidFill>
                            <a:schemeClr val="tx1"/>
                          </a:solidFill>
                          <a:effectLst/>
                          <a:latin typeface="Segoe UI" panose="020B0502040204020203" pitchFamily="34" charset="0"/>
                        </a:rPr>
                        <a:t>705</a:t>
                      </a:r>
                    </a:p>
                  </a:txBody>
                  <a:tcPr marL="9525" marR="9525" marT="9525" marB="0" anchor="b"/>
                </a:tc>
                <a:tc>
                  <a:txBody>
                    <a:bodyPr/>
                    <a:lstStyle/>
                    <a:p>
                      <a:pPr algn="l" fontAlgn="b"/>
                      <a:r>
                        <a:rPr lang="en-US" sz="1000" b="0" i="0" u="none" strike="noStrike" dirty="0">
                          <a:solidFill>
                            <a:schemeClr val="tx1"/>
                          </a:solidFill>
                          <a:effectLst/>
                          <a:latin typeface="Segoe UI" panose="020B0502040204020203" pitchFamily="34" charset="0"/>
                        </a:rPr>
                        <a:t>382</a:t>
                      </a:r>
                    </a:p>
                  </a:txBody>
                  <a:tcPr marL="9525" marR="9525" marT="9525" marB="0" anchor="b"/>
                </a:tc>
                <a:extLst>
                  <a:ext uri="{0D108BD9-81ED-4DB2-BD59-A6C34878D82A}">
                    <a16:rowId xmlns:a16="http://schemas.microsoft.com/office/drawing/2014/main" val="242387756"/>
                  </a:ext>
                </a:extLst>
              </a:tr>
              <a:tr h="181064">
                <a:tc>
                  <a:txBody>
                    <a:bodyPr/>
                    <a:lstStyle/>
                    <a:p>
                      <a:pPr algn="l" fontAlgn="b"/>
                      <a:r>
                        <a:rPr lang="en-US" sz="1000" b="0" i="0" u="none" strike="noStrike">
                          <a:solidFill>
                            <a:schemeClr val="tx1"/>
                          </a:solidFill>
                          <a:effectLst/>
                          <a:latin typeface="Segoe UI" panose="020B0502040204020203" pitchFamily="34" charset="0"/>
                        </a:rPr>
                        <a:t>5</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109.70.100.68</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386</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711</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325</a:t>
                      </a:r>
                    </a:p>
                  </a:txBody>
                  <a:tcPr marL="9525" marR="9525" marT="9525" marB="0" anchor="b"/>
                </a:tc>
                <a:extLst>
                  <a:ext uri="{0D108BD9-81ED-4DB2-BD59-A6C34878D82A}">
                    <a16:rowId xmlns:a16="http://schemas.microsoft.com/office/drawing/2014/main" val="1176144112"/>
                  </a:ext>
                </a:extLst>
              </a:tr>
              <a:tr h="300775">
                <a:tc>
                  <a:txBody>
                    <a:bodyPr/>
                    <a:lstStyle/>
                    <a:p>
                      <a:pPr algn="l" fontAlgn="b"/>
                      <a:r>
                        <a:rPr lang="en-US" sz="1000" b="0" i="0" u="none" strike="noStrike">
                          <a:solidFill>
                            <a:schemeClr val="tx1"/>
                          </a:solidFill>
                          <a:effectLst/>
                          <a:latin typeface="Segoe UI" panose="020B0502040204020203" pitchFamily="34" charset="0"/>
                        </a:rPr>
                        <a:t>6</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205.185.126.208</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469</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739</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270</a:t>
                      </a:r>
                    </a:p>
                  </a:txBody>
                  <a:tcPr marL="9525" marR="9525" marT="9525" marB="0" anchor="b"/>
                </a:tc>
                <a:extLst>
                  <a:ext uri="{0D108BD9-81ED-4DB2-BD59-A6C34878D82A}">
                    <a16:rowId xmlns:a16="http://schemas.microsoft.com/office/drawing/2014/main" val="983035322"/>
                  </a:ext>
                </a:extLst>
              </a:tr>
              <a:tr h="181064">
                <a:tc>
                  <a:txBody>
                    <a:bodyPr/>
                    <a:lstStyle/>
                    <a:p>
                      <a:pPr algn="l" fontAlgn="b"/>
                      <a:r>
                        <a:rPr lang="en-US" sz="1000" b="0" i="0" u="none" strike="noStrike">
                          <a:solidFill>
                            <a:schemeClr val="tx1"/>
                          </a:solidFill>
                          <a:effectLst/>
                          <a:latin typeface="Segoe UI" panose="020B0502040204020203" pitchFamily="34" charset="0"/>
                        </a:rPr>
                        <a:t>7</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45.137.22.247</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256</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499</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243</a:t>
                      </a:r>
                    </a:p>
                  </a:txBody>
                  <a:tcPr marL="9525" marR="9525" marT="9525" marB="0" anchor="b"/>
                </a:tc>
                <a:extLst>
                  <a:ext uri="{0D108BD9-81ED-4DB2-BD59-A6C34878D82A}">
                    <a16:rowId xmlns:a16="http://schemas.microsoft.com/office/drawing/2014/main" val="744886557"/>
                  </a:ext>
                </a:extLst>
              </a:tr>
              <a:tr h="181064">
                <a:tc>
                  <a:txBody>
                    <a:bodyPr/>
                    <a:lstStyle/>
                    <a:p>
                      <a:pPr algn="l" fontAlgn="b"/>
                      <a:r>
                        <a:rPr lang="en-US" sz="1000" b="0" i="0" u="none" strike="noStrike">
                          <a:solidFill>
                            <a:schemeClr val="tx1"/>
                          </a:solidFill>
                          <a:effectLst/>
                          <a:latin typeface="Segoe UI" panose="020B0502040204020203" pitchFamily="34" charset="0"/>
                        </a:rPr>
                        <a:t>8</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185.220.101.37</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264</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499</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235</a:t>
                      </a:r>
                    </a:p>
                  </a:txBody>
                  <a:tcPr marL="9525" marR="9525" marT="9525" marB="0" anchor="b"/>
                </a:tc>
                <a:extLst>
                  <a:ext uri="{0D108BD9-81ED-4DB2-BD59-A6C34878D82A}">
                    <a16:rowId xmlns:a16="http://schemas.microsoft.com/office/drawing/2014/main" val="819488899"/>
                  </a:ext>
                </a:extLst>
              </a:tr>
              <a:tr h="181064">
                <a:tc>
                  <a:txBody>
                    <a:bodyPr/>
                    <a:lstStyle/>
                    <a:p>
                      <a:pPr algn="l" fontAlgn="b"/>
                      <a:r>
                        <a:rPr lang="en-US" sz="1000" b="0" i="0" u="none" strike="noStrike">
                          <a:solidFill>
                            <a:schemeClr val="tx1"/>
                          </a:solidFill>
                          <a:effectLst/>
                          <a:latin typeface="Segoe UI" panose="020B0502040204020203" pitchFamily="34" charset="0"/>
                        </a:rPr>
                        <a:t>9</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107.189.30.69</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468</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665</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197</a:t>
                      </a:r>
                    </a:p>
                  </a:txBody>
                  <a:tcPr marL="9525" marR="9525" marT="9525" marB="0" anchor="b"/>
                </a:tc>
                <a:extLst>
                  <a:ext uri="{0D108BD9-81ED-4DB2-BD59-A6C34878D82A}">
                    <a16:rowId xmlns:a16="http://schemas.microsoft.com/office/drawing/2014/main" val="107958043"/>
                  </a:ext>
                </a:extLst>
              </a:tr>
              <a:tr h="181064">
                <a:tc>
                  <a:txBody>
                    <a:bodyPr/>
                    <a:lstStyle/>
                    <a:p>
                      <a:pPr algn="l" fontAlgn="b"/>
                      <a:r>
                        <a:rPr lang="en-US" sz="1000" b="0" i="0" u="none" strike="noStrike">
                          <a:solidFill>
                            <a:schemeClr val="tx1"/>
                          </a:solidFill>
                          <a:effectLst/>
                          <a:latin typeface="Segoe UI" panose="020B0502040204020203" pitchFamily="34" charset="0"/>
                        </a:rPr>
                        <a:t>10</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109.70.100.2</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499</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692</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193</a:t>
                      </a:r>
                    </a:p>
                  </a:txBody>
                  <a:tcPr marL="9525" marR="9525" marT="9525" marB="0" anchor="b"/>
                </a:tc>
                <a:extLst>
                  <a:ext uri="{0D108BD9-81ED-4DB2-BD59-A6C34878D82A}">
                    <a16:rowId xmlns:a16="http://schemas.microsoft.com/office/drawing/2014/main" val="1756596092"/>
                  </a:ext>
                </a:extLst>
              </a:tr>
              <a:tr h="181064">
                <a:tc>
                  <a:txBody>
                    <a:bodyPr/>
                    <a:lstStyle/>
                    <a:p>
                      <a:pPr algn="l" fontAlgn="b"/>
                      <a:r>
                        <a:rPr lang="en-US" sz="1000" b="0" i="0" u="none" strike="noStrike">
                          <a:solidFill>
                            <a:schemeClr val="tx1"/>
                          </a:solidFill>
                          <a:effectLst/>
                          <a:latin typeface="Segoe UI" panose="020B0502040204020203" pitchFamily="34" charset="0"/>
                        </a:rPr>
                        <a:t>11</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80.67.172.162</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317</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499</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182</a:t>
                      </a:r>
                    </a:p>
                  </a:txBody>
                  <a:tcPr marL="9525" marR="9525" marT="9525" marB="0" anchor="b"/>
                </a:tc>
                <a:extLst>
                  <a:ext uri="{0D108BD9-81ED-4DB2-BD59-A6C34878D82A}">
                    <a16:rowId xmlns:a16="http://schemas.microsoft.com/office/drawing/2014/main" val="3432399927"/>
                  </a:ext>
                </a:extLst>
              </a:tr>
              <a:tr h="181064">
                <a:tc>
                  <a:txBody>
                    <a:bodyPr/>
                    <a:lstStyle/>
                    <a:p>
                      <a:pPr algn="l" fontAlgn="b"/>
                      <a:r>
                        <a:rPr lang="en-US" sz="1000" b="0" i="0" u="none" strike="noStrike">
                          <a:solidFill>
                            <a:schemeClr val="tx1"/>
                          </a:solidFill>
                          <a:effectLst/>
                          <a:latin typeface="Segoe UI" panose="020B0502040204020203" pitchFamily="34" charset="0"/>
                        </a:rPr>
                        <a:t>12</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154.47.30.150</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326</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499</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173</a:t>
                      </a:r>
                    </a:p>
                  </a:txBody>
                  <a:tcPr marL="9525" marR="9525" marT="9525" marB="0" anchor="b"/>
                </a:tc>
                <a:extLst>
                  <a:ext uri="{0D108BD9-81ED-4DB2-BD59-A6C34878D82A}">
                    <a16:rowId xmlns:a16="http://schemas.microsoft.com/office/drawing/2014/main" val="3775977232"/>
                  </a:ext>
                </a:extLst>
              </a:tr>
              <a:tr h="181064">
                <a:tc>
                  <a:txBody>
                    <a:bodyPr/>
                    <a:lstStyle/>
                    <a:p>
                      <a:pPr algn="l" fontAlgn="b"/>
                      <a:r>
                        <a:rPr lang="en-US" sz="1000" b="0" i="0" u="none" strike="noStrike">
                          <a:solidFill>
                            <a:schemeClr val="tx1"/>
                          </a:solidFill>
                          <a:effectLst/>
                          <a:latin typeface="Segoe UI" panose="020B0502040204020203" pitchFamily="34" charset="0"/>
                        </a:rPr>
                        <a:t>13</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205.210.31.209</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326</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499</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173</a:t>
                      </a:r>
                    </a:p>
                  </a:txBody>
                  <a:tcPr marL="9525" marR="9525" marT="9525" marB="0" anchor="b"/>
                </a:tc>
                <a:extLst>
                  <a:ext uri="{0D108BD9-81ED-4DB2-BD59-A6C34878D82A}">
                    <a16:rowId xmlns:a16="http://schemas.microsoft.com/office/drawing/2014/main" val="78140899"/>
                  </a:ext>
                </a:extLst>
              </a:tr>
              <a:tr h="181064">
                <a:tc>
                  <a:txBody>
                    <a:bodyPr/>
                    <a:lstStyle/>
                    <a:p>
                      <a:pPr algn="l" fontAlgn="b"/>
                      <a:r>
                        <a:rPr lang="en-US" sz="1000" b="0" i="0" u="none" strike="noStrike">
                          <a:solidFill>
                            <a:schemeClr val="tx1"/>
                          </a:solidFill>
                          <a:effectLst/>
                          <a:latin typeface="Segoe UI" panose="020B0502040204020203" pitchFamily="34" charset="0"/>
                        </a:rPr>
                        <a:t>14</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87.236.176.207</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326</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499</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173</a:t>
                      </a:r>
                    </a:p>
                  </a:txBody>
                  <a:tcPr marL="9525" marR="9525" marT="9525" marB="0" anchor="b"/>
                </a:tc>
                <a:extLst>
                  <a:ext uri="{0D108BD9-81ED-4DB2-BD59-A6C34878D82A}">
                    <a16:rowId xmlns:a16="http://schemas.microsoft.com/office/drawing/2014/main" val="1617801165"/>
                  </a:ext>
                </a:extLst>
              </a:tr>
              <a:tr h="181064">
                <a:tc>
                  <a:txBody>
                    <a:bodyPr/>
                    <a:lstStyle/>
                    <a:p>
                      <a:pPr algn="l" fontAlgn="b"/>
                      <a:r>
                        <a:rPr lang="en-US" sz="1000" b="0" i="0" u="none" strike="noStrike">
                          <a:solidFill>
                            <a:schemeClr val="tx1"/>
                          </a:solidFill>
                          <a:effectLst/>
                          <a:latin typeface="Segoe UI" panose="020B0502040204020203" pitchFamily="34" charset="0"/>
                        </a:rPr>
                        <a:t>15</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185.220.101.21</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539</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711</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172</a:t>
                      </a:r>
                    </a:p>
                  </a:txBody>
                  <a:tcPr marL="9525" marR="9525" marT="9525" marB="0" anchor="b"/>
                </a:tc>
                <a:extLst>
                  <a:ext uri="{0D108BD9-81ED-4DB2-BD59-A6C34878D82A}">
                    <a16:rowId xmlns:a16="http://schemas.microsoft.com/office/drawing/2014/main" val="124451178"/>
                  </a:ext>
                </a:extLst>
              </a:tr>
              <a:tr h="181064">
                <a:tc>
                  <a:txBody>
                    <a:bodyPr/>
                    <a:lstStyle/>
                    <a:p>
                      <a:pPr algn="l" fontAlgn="b"/>
                      <a:r>
                        <a:rPr lang="en-US" sz="1000" b="0" i="0" u="none" strike="noStrike">
                          <a:solidFill>
                            <a:schemeClr val="tx1"/>
                          </a:solidFill>
                          <a:effectLst/>
                          <a:latin typeface="Segoe UI" panose="020B0502040204020203" pitchFamily="34" charset="0"/>
                        </a:rPr>
                        <a:t>16</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59.148.233.250</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334</a:t>
                      </a:r>
                    </a:p>
                  </a:txBody>
                  <a:tcPr marL="9525" marR="9525" marT="9525" marB="0" anchor="b"/>
                </a:tc>
                <a:tc>
                  <a:txBody>
                    <a:bodyPr/>
                    <a:lstStyle/>
                    <a:p>
                      <a:pPr algn="l" fontAlgn="b"/>
                      <a:r>
                        <a:rPr lang="en-US" sz="1000" b="0" i="0" u="none" strike="noStrike" dirty="0">
                          <a:solidFill>
                            <a:schemeClr val="tx1"/>
                          </a:solidFill>
                          <a:effectLst/>
                          <a:latin typeface="Segoe UI" panose="020B0502040204020203" pitchFamily="34" charset="0"/>
                        </a:rPr>
                        <a:t>499</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165</a:t>
                      </a:r>
                    </a:p>
                  </a:txBody>
                  <a:tcPr marL="9525" marR="9525" marT="9525" marB="0" anchor="b"/>
                </a:tc>
                <a:extLst>
                  <a:ext uri="{0D108BD9-81ED-4DB2-BD59-A6C34878D82A}">
                    <a16:rowId xmlns:a16="http://schemas.microsoft.com/office/drawing/2014/main" val="1140082765"/>
                  </a:ext>
                </a:extLst>
              </a:tr>
              <a:tr h="181064">
                <a:tc>
                  <a:txBody>
                    <a:bodyPr/>
                    <a:lstStyle/>
                    <a:p>
                      <a:pPr algn="l" fontAlgn="b"/>
                      <a:r>
                        <a:rPr lang="en-US" sz="1000" b="0" i="0" u="none" strike="noStrike">
                          <a:solidFill>
                            <a:schemeClr val="tx1"/>
                          </a:solidFill>
                          <a:effectLst/>
                          <a:latin typeface="Segoe UI" panose="020B0502040204020203" pitchFamily="34" charset="0"/>
                        </a:rPr>
                        <a:t>17</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148.113.152.91</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336</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499</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163</a:t>
                      </a:r>
                    </a:p>
                  </a:txBody>
                  <a:tcPr marL="9525" marR="9525" marT="9525" marB="0" anchor="b"/>
                </a:tc>
                <a:extLst>
                  <a:ext uri="{0D108BD9-81ED-4DB2-BD59-A6C34878D82A}">
                    <a16:rowId xmlns:a16="http://schemas.microsoft.com/office/drawing/2014/main" val="2678062346"/>
                  </a:ext>
                </a:extLst>
              </a:tr>
              <a:tr h="300775">
                <a:tc>
                  <a:txBody>
                    <a:bodyPr/>
                    <a:lstStyle/>
                    <a:p>
                      <a:pPr algn="l" fontAlgn="b"/>
                      <a:r>
                        <a:rPr lang="en-US" sz="1000" b="0" i="0" u="none" strike="noStrike">
                          <a:solidFill>
                            <a:schemeClr val="tx1"/>
                          </a:solidFill>
                          <a:effectLst/>
                          <a:latin typeface="Segoe UI" panose="020B0502040204020203" pitchFamily="34" charset="0"/>
                        </a:rPr>
                        <a:t>18</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213.252.244.230</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339</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499</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160</a:t>
                      </a:r>
                    </a:p>
                  </a:txBody>
                  <a:tcPr marL="9525" marR="9525" marT="9525" marB="0" anchor="b"/>
                </a:tc>
                <a:extLst>
                  <a:ext uri="{0D108BD9-81ED-4DB2-BD59-A6C34878D82A}">
                    <a16:rowId xmlns:a16="http://schemas.microsoft.com/office/drawing/2014/main" val="2661918037"/>
                  </a:ext>
                </a:extLst>
              </a:tr>
              <a:tr h="181064">
                <a:tc>
                  <a:txBody>
                    <a:bodyPr/>
                    <a:lstStyle/>
                    <a:p>
                      <a:pPr algn="l" fontAlgn="b"/>
                      <a:r>
                        <a:rPr lang="en-US" sz="1000" b="0" i="0" u="none" strike="noStrike" dirty="0">
                          <a:solidFill>
                            <a:schemeClr val="tx1"/>
                          </a:solidFill>
                          <a:effectLst/>
                          <a:latin typeface="Segoe UI" panose="020B0502040204020203" pitchFamily="34" charset="0"/>
                        </a:rPr>
                        <a:t>19</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141.98.11.82</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346</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499</a:t>
                      </a:r>
                    </a:p>
                  </a:txBody>
                  <a:tcPr marL="9525" marR="9525" marT="9525" marB="0" anchor="b"/>
                </a:tc>
                <a:tc>
                  <a:txBody>
                    <a:bodyPr/>
                    <a:lstStyle/>
                    <a:p>
                      <a:pPr algn="l" fontAlgn="b"/>
                      <a:r>
                        <a:rPr lang="en-US" sz="1000" b="0" i="0" u="none" strike="noStrike" dirty="0">
                          <a:solidFill>
                            <a:schemeClr val="tx1"/>
                          </a:solidFill>
                          <a:effectLst/>
                          <a:latin typeface="Segoe UI" panose="020B0502040204020203" pitchFamily="34" charset="0"/>
                        </a:rPr>
                        <a:t>153</a:t>
                      </a:r>
                    </a:p>
                  </a:txBody>
                  <a:tcPr marL="9525" marR="9525" marT="9525" marB="0" anchor="b"/>
                </a:tc>
                <a:extLst>
                  <a:ext uri="{0D108BD9-81ED-4DB2-BD59-A6C34878D82A}">
                    <a16:rowId xmlns:a16="http://schemas.microsoft.com/office/drawing/2014/main" val="1250764506"/>
                  </a:ext>
                </a:extLst>
              </a:tr>
              <a:tr h="181064">
                <a:tc>
                  <a:txBody>
                    <a:bodyPr/>
                    <a:lstStyle/>
                    <a:p>
                      <a:pPr algn="l" fontAlgn="b"/>
                      <a:r>
                        <a:rPr lang="en-US" sz="1000" b="0" i="0" u="none" strike="noStrike">
                          <a:solidFill>
                            <a:srgbClr val="000000"/>
                          </a:solidFill>
                          <a:effectLst/>
                          <a:latin typeface="Segoe UI" panose="020B0502040204020203" pitchFamily="34" charset="0"/>
                        </a:rPr>
                        <a:t>20</a:t>
                      </a:r>
                    </a:p>
                  </a:txBody>
                  <a:tcPr marL="9525" marR="9525" marT="9525" marB="0" anchor="b"/>
                </a:tc>
                <a:tc>
                  <a:txBody>
                    <a:bodyPr/>
                    <a:lstStyle/>
                    <a:p>
                      <a:pPr algn="l" fontAlgn="b"/>
                      <a:r>
                        <a:rPr lang="en-US" sz="1000" b="0" i="0" u="none" strike="noStrike">
                          <a:solidFill>
                            <a:srgbClr val="000000"/>
                          </a:solidFill>
                          <a:effectLst/>
                          <a:latin typeface="Segoe UI" panose="020B0502040204020203" pitchFamily="34" charset="0"/>
                        </a:rPr>
                        <a:t>195.47.238.83</a:t>
                      </a:r>
                    </a:p>
                  </a:txBody>
                  <a:tcPr marL="9525" marR="9525" marT="9525" marB="0" anchor="b"/>
                </a:tc>
                <a:tc>
                  <a:txBody>
                    <a:bodyPr/>
                    <a:lstStyle/>
                    <a:p>
                      <a:pPr algn="l" fontAlgn="b"/>
                      <a:r>
                        <a:rPr lang="en-US" sz="1000" b="0" i="0" u="none" strike="noStrike">
                          <a:solidFill>
                            <a:srgbClr val="000000"/>
                          </a:solidFill>
                          <a:effectLst/>
                          <a:latin typeface="Segoe UI" panose="020B0502040204020203" pitchFamily="34" charset="0"/>
                        </a:rPr>
                        <a:t>346</a:t>
                      </a:r>
                    </a:p>
                  </a:txBody>
                  <a:tcPr marL="9525" marR="9525" marT="9525" marB="0" anchor="b"/>
                </a:tc>
                <a:tc>
                  <a:txBody>
                    <a:bodyPr/>
                    <a:lstStyle/>
                    <a:p>
                      <a:pPr algn="l" fontAlgn="b"/>
                      <a:r>
                        <a:rPr lang="en-US" sz="1000" b="0" i="0" u="none" strike="noStrike">
                          <a:solidFill>
                            <a:srgbClr val="000000"/>
                          </a:solidFill>
                          <a:effectLst/>
                          <a:latin typeface="Segoe UI" panose="020B0502040204020203" pitchFamily="34" charset="0"/>
                        </a:rPr>
                        <a:t>499</a:t>
                      </a:r>
                    </a:p>
                  </a:txBody>
                  <a:tcPr marL="9525" marR="9525" marT="9525" marB="0" anchor="b"/>
                </a:tc>
                <a:tc>
                  <a:txBody>
                    <a:bodyPr/>
                    <a:lstStyle/>
                    <a:p>
                      <a:pPr algn="l" fontAlgn="b"/>
                      <a:r>
                        <a:rPr lang="en-US" sz="1000" b="0" i="0" u="none" strike="noStrike" dirty="0">
                          <a:solidFill>
                            <a:srgbClr val="000000"/>
                          </a:solidFill>
                          <a:effectLst/>
                          <a:latin typeface="Segoe UI" panose="020B0502040204020203" pitchFamily="34" charset="0"/>
                        </a:rPr>
                        <a:t>153</a:t>
                      </a:r>
                    </a:p>
                  </a:txBody>
                  <a:tcPr marL="9525" marR="9525" marT="9525" marB="0" anchor="b"/>
                </a:tc>
                <a:extLst>
                  <a:ext uri="{0D108BD9-81ED-4DB2-BD59-A6C34878D82A}">
                    <a16:rowId xmlns:a16="http://schemas.microsoft.com/office/drawing/2014/main" val="519967152"/>
                  </a:ext>
                </a:extLst>
              </a:tr>
            </a:tbl>
          </a:graphicData>
        </a:graphic>
      </p:graphicFrame>
      <p:pic>
        <p:nvPicPr>
          <p:cNvPr id="5" name="Picture 4" descr="A screenshot of a computer&#10;&#10;AI-generated content may be incorrect.">
            <a:extLst>
              <a:ext uri="{FF2B5EF4-FFF2-40B4-BE49-F238E27FC236}">
                <a16:creationId xmlns:a16="http://schemas.microsoft.com/office/drawing/2014/main" id="{4F9000DF-C4AB-77D4-E698-7832DD76B93F}"/>
              </a:ext>
            </a:extLst>
          </p:cNvPr>
          <p:cNvPicPr>
            <a:picLocks noChangeAspect="1"/>
          </p:cNvPicPr>
          <p:nvPr/>
        </p:nvPicPr>
        <p:blipFill>
          <a:blip r:embed="rId2"/>
          <a:stretch>
            <a:fillRect/>
          </a:stretch>
        </p:blipFill>
        <p:spPr>
          <a:xfrm>
            <a:off x="6314084" y="3288472"/>
            <a:ext cx="5244813" cy="1923290"/>
          </a:xfrm>
          <a:prstGeom prst="rect">
            <a:avLst/>
          </a:prstGeom>
        </p:spPr>
      </p:pic>
      <p:sp>
        <p:nvSpPr>
          <p:cNvPr id="7" name="TextBox 6">
            <a:extLst>
              <a:ext uri="{FF2B5EF4-FFF2-40B4-BE49-F238E27FC236}">
                <a16:creationId xmlns:a16="http://schemas.microsoft.com/office/drawing/2014/main" id="{E8C5897E-6ED4-A43A-963E-0CB1238D4F72}"/>
              </a:ext>
            </a:extLst>
          </p:cNvPr>
          <p:cNvSpPr txBox="1"/>
          <p:nvPr/>
        </p:nvSpPr>
        <p:spPr>
          <a:xfrm>
            <a:off x="6314084" y="5325935"/>
            <a:ext cx="5028319" cy="646331"/>
          </a:xfrm>
          <a:prstGeom prst="rect">
            <a:avLst/>
          </a:prstGeom>
          <a:noFill/>
        </p:spPr>
        <p:txBody>
          <a:bodyPr wrap="square" rtlCol="0">
            <a:spAutoFit/>
          </a:bodyPr>
          <a:lstStyle/>
          <a:p>
            <a:r>
              <a:rPr lang="en-US" sz="1200" dirty="0"/>
              <a:t>From the excerpt above, we observe that this indicator exhibits a very low CAL score and a medium Threat Score, while still being assigned a high threat rating.</a:t>
            </a:r>
          </a:p>
        </p:txBody>
      </p:sp>
    </p:spTree>
    <p:extLst>
      <p:ext uri="{BB962C8B-B14F-4D97-AF65-F5344CB8AC3E}">
        <p14:creationId xmlns:p14="http://schemas.microsoft.com/office/powerpoint/2010/main" val="35262926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53A7D-59D6-66B9-3A6B-F6720B7FD07F}"/>
              </a:ext>
            </a:extLst>
          </p:cNvPr>
          <p:cNvSpPr>
            <a:spLocks noGrp="1"/>
          </p:cNvSpPr>
          <p:nvPr>
            <p:ph type="title"/>
          </p:nvPr>
        </p:nvSpPr>
        <p:spPr/>
        <p:txBody>
          <a:bodyPr/>
          <a:lstStyle/>
          <a:p>
            <a:r>
              <a:rPr lang="en-US" dirty="0"/>
              <a:t>Top 10 Threat Actor Distribution</a:t>
            </a:r>
          </a:p>
        </p:txBody>
      </p:sp>
      <p:graphicFrame>
        <p:nvGraphicFramePr>
          <p:cNvPr id="5" name="Content Placeholder 4">
            <a:extLst>
              <a:ext uri="{FF2B5EF4-FFF2-40B4-BE49-F238E27FC236}">
                <a16:creationId xmlns:a16="http://schemas.microsoft.com/office/drawing/2014/main" id="{CC0A538F-2152-CBC7-B493-5EE1A5837792}"/>
              </a:ext>
            </a:extLst>
          </p:cNvPr>
          <p:cNvGraphicFramePr>
            <a:graphicFrameLocks noGrp="1"/>
          </p:cNvGraphicFramePr>
          <p:nvPr>
            <p:ph sz="half" idx="1"/>
            <p:extLst>
              <p:ext uri="{D42A27DB-BD31-4B8C-83A1-F6EECF244321}">
                <p14:modId xmlns:p14="http://schemas.microsoft.com/office/powerpoint/2010/main" val="3168682588"/>
              </p:ext>
            </p:extLst>
          </p:nvPr>
        </p:nvGraphicFramePr>
        <p:xfrm>
          <a:off x="629728" y="1646238"/>
          <a:ext cx="6512946" cy="3004455"/>
        </p:xfrm>
        <a:graphic>
          <a:graphicData uri="http://schemas.openxmlformats.org/drawingml/2006/table">
            <a:tbl>
              <a:tblPr firstRow="1" bandRow="1">
                <a:tableStyleId>{BC89EF96-8CEA-46FF-86C4-4CE0E7609802}</a:tableStyleId>
              </a:tblPr>
              <a:tblGrid>
                <a:gridCol w="1085491">
                  <a:extLst>
                    <a:ext uri="{9D8B030D-6E8A-4147-A177-3AD203B41FA5}">
                      <a16:colId xmlns:a16="http://schemas.microsoft.com/office/drawing/2014/main" val="2637531113"/>
                    </a:ext>
                  </a:extLst>
                </a:gridCol>
                <a:gridCol w="1085491">
                  <a:extLst>
                    <a:ext uri="{9D8B030D-6E8A-4147-A177-3AD203B41FA5}">
                      <a16:colId xmlns:a16="http://schemas.microsoft.com/office/drawing/2014/main" val="2291963309"/>
                    </a:ext>
                  </a:extLst>
                </a:gridCol>
                <a:gridCol w="1085491">
                  <a:extLst>
                    <a:ext uri="{9D8B030D-6E8A-4147-A177-3AD203B41FA5}">
                      <a16:colId xmlns:a16="http://schemas.microsoft.com/office/drawing/2014/main" val="1847972669"/>
                    </a:ext>
                  </a:extLst>
                </a:gridCol>
                <a:gridCol w="1085491">
                  <a:extLst>
                    <a:ext uri="{9D8B030D-6E8A-4147-A177-3AD203B41FA5}">
                      <a16:colId xmlns:a16="http://schemas.microsoft.com/office/drawing/2014/main" val="4258789327"/>
                    </a:ext>
                  </a:extLst>
                </a:gridCol>
                <a:gridCol w="1085491">
                  <a:extLst>
                    <a:ext uri="{9D8B030D-6E8A-4147-A177-3AD203B41FA5}">
                      <a16:colId xmlns:a16="http://schemas.microsoft.com/office/drawing/2014/main" val="2813412152"/>
                    </a:ext>
                  </a:extLst>
                </a:gridCol>
                <a:gridCol w="1085491">
                  <a:extLst>
                    <a:ext uri="{9D8B030D-6E8A-4147-A177-3AD203B41FA5}">
                      <a16:colId xmlns:a16="http://schemas.microsoft.com/office/drawing/2014/main" val="3591022419"/>
                    </a:ext>
                  </a:extLst>
                </a:gridCol>
              </a:tblGrid>
              <a:tr h="260288">
                <a:tc>
                  <a:txBody>
                    <a:bodyPr/>
                    <a:lstStyle/>
                    <a:p>
                      <a:pPr algn="l" fontAlgn="b"/>
                      <a:r>
                        <a:rPr lang="en-US" sz="1200" b="1" i="0" u="none" strike="noStrike" dirty="0">
                          <a:solidFill>
                            <a:schemeClr val="tx1"/>
                          </a:solidFill>
                          <a:effectLst/>
                          <a:latin typeface="Segoe UI" panose="020B0502040204020203" pitchFamily="34" charset="0"/>
                        </a:rPr>
                        <a:t>Threat Actor</a:t>
                      </a:r>
                    </a:p>
                  </a:txBody>
                  <a:tcPr marL="9525" marR="9525" marT="9525" marB="0" anchor="b"/>
                </a:tc>
                <a:tc>
                  <a:txBody>
                    <a:bodyPr/>
                    <a:lstStyle/>
                    <a:p>
                      <a:pPr algn="l" fontAlgn="b"/>
                      <a:r>
                        <a:rPr lang="en-US" sz="1200" b="1" i="0" u="none" strike="noStrike" dirty="0">
                          <a:solidFill>
                            <a:schemeClr val="tx1"/>
                          </a:solidFill>
                          <a:effectLst/>
                          <a:latin typeface="Segoe UI" panose="020B0502040204020203" pitchFamily="34" charset="0"/>
                        </a:rPr>
                        <a:t>Indicator Count</a:t>
                      </a:r>
                    </a:p>
                  </a:txBody>
                  <a:tcPr marL="9525" marR="9525" marT="9525" marB="0" anchor="b"/>
                </a:tc>
                <a:tc>
                  <a:txBody>
                    <a:bodyPr/>
                    <a:lstStyle/>
                    <a:p>
                      <a:pPr algn="l" fontAlgn="b"/>
                      <a:r>
                        <a:rPr lang="en-US" sz="1200" b="1" i="0" u="none" strike="noStrike">
                          <a:solidFill>
                            <a:schemeClr val="tx1"/>
                          </a:solidFill>
                          <a:effectLst/>
                          <a:latin typeface="Segoe UI" panose="020B0502040204020203" pitchFamily="34" charset="0"/>
                        </a:rPr>
                        <a:t>Avg Score</a:t>
                      </a:r>
                    </a:p>
                  </a:txBody>
                  <a:tcPr marL="9525" marR="9525" marT="9525" marB="0" anchor="b"/>
                </a:tc>
                <a:tc>
                  <a:txBody>
                    <a:bodyPr/>
                    <a:lstStyle/>
                    <a:p>
                      <a:pPr algn="l" fontAlgn="b"/>
                      <a:r>
                        <a:rPr lang="en-US" sz="1200" b="1" i="0" u="none" strike="noStrike" dirty="0">
                          <a:solidFill>
                            <a:schemeClr val="tx1"/>
                          </a:solidFill>
                          <a:effectLst/>
                          <a:latin typeface="Segoe UI" panose="020B0502040204020203" pitchFamily="34" charset="0"/>
                        </a:rPr>
                        <a:t>Median Score</a:t>
                      </a:r>
                    </a:p>
                  </a:txBody>
                  <a:tcPr marL="9525" marR="9525" marT="9525" marB="0" anchor="b"/>
                </a:tc>
                <a:tc>
                  <a:txBody>
                    <a:bodyPr/>
                    <a:lstStyle/>
                    <a:p>
                      <a:pPr algn="l" fontAlgn="b"/>
                      <a:r>
                        <a:rPr lang="en-US" sz="1200" b="1" i="0" u="none" strike="noStrike" dirty="0">
                          <a:solidFill>
                            <a:schemeClr val="tx1"/>
                          </a:solidFill>
                          <a:effectLst/>
                          <a:latin typeface="Segoe UI" panose="020B0502040204020203" pitchFamily="34" charset="0"/>
                        </a:rPr>
                        <a:t>Min Score</a:t>
                      </a:r>
                    </a:p>
                  </a:txBody>
                  <a:tcPr marL="9525" marR="9525" marT="9525" marB="0" anchor="b"/>
                </a:tc>
                <a:tc>
                  <a:txBody>
                    <a:bodyPr/>
                    <a:lstStyle/>
                    <a:p>
                      <a:pPr algn="l" fontAlgn="b"/>
                      <a:r>
                        <a:rPr lang="en-US" sz="1200" b="1" i="0" u="none" strike="noStrike" dirty="0">
                          <a:solidFill>
                            <a:schemeClr val="tx1"/>
                          </a:solidFill>
                          <a:effectLst/>
                          <a:latin typeface="Segoe UI" panose="020B0502040204020203" pitchFamily="34" charset="0"/>
                        </a:rPr>
                        <a:t>Max Score</a:t>
                      </a:r>
                    </a:p>
                  </a:txBody>
                  <a:tcPr marL="9525" marR="9525" marT="9525" marB="0" anchor="b"/>
                </a:tc>
                <a:extLst>
                  <a:ext uri="{0D108BD9-81ED-4DB2-BD59-A6C34878D82A}">
                    <a16:rowId xmlns:a16="http://schemas.microsoft.com/office/drawing/2014/main" val="164723694"/>
                  </a:ext>
                </a:extLst>
              </a:tr>
              <a:tr h="257205">
                <a:tc>
                  <a:txBody>
                    <a:bodyPr/>
                    <a:lstStyle/>
                    <a:p>
                      <a:pPr algn="l" fontAlgn="b"/>
                      <a:r>
                        <a:rPr lang="en-US" sz="1000" b="0" i="0" u="none" strike="noStrike" dirty="0" err="1">
                          <a:solidFill>
                            <a:schemeClr val="tx1"/>
                          </a:solidFill>
                          <a:effectLst/>
                          <a:latin typeface="Segoe UI" panose="020B0502040204020203" pitchFamily="34" charset="0"/>
                        </a:rPr>
                        <a:t>Mr</a:t>
                      </a:r>
                      <a:r>
                        <a:rPr lang="en-US" sz="1000" b="0" i="0" u="none" strike="noStrike" dirty="0">
                          <a:solidFill>
                            <a:schemeClr val="tx1"/>
                          </a:solidFill>
                          <a:effectLst/>
                          <a:latin typeface="Segoe UI" panose="020B0502040204020203" pitchFamily="34" charset="0"/>
                        </a:rPr>
                        <a:t> Hamza Group</a:t>
                      </a:r>
                    </a:p>
                  </a:txBody>
                  <a:tcPr marL="9525" marR="9525" marT="9525" marB="0" anchor="b"/>
                </a:tc>
                <a:tc>
                  <a:txBody>
                    <a:bodyPr/>
                    <a:lstStyle/>
                    <a:p>
                      <a:pPr algn="r" fontAlgn="b"/>
                      <a:r>
                        <a:rPr lang="en-US" sz="1000" b="0" i="0" u="none" strike="noStrike">
                          <a:solidFill>
                            <a:schemeClr val="tx1"/>
                          </a:solidFill>
                          <a:effectLst/>
                          <a:latin typeface="Segoe UI" panose="020B0502040204020203" pitchFamily="34" charset="0"/>
                        </a:rPr>
                        <a:t>156</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172.8</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170.0</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138.0</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499.0</a:t>
                      </a:r>
                    </a:p>
                  </a:txBody>
                  <a:tcPr marL="9525" marR="9525" marT="9525" marB="0" anchor="b"/>
                </a:tc>
                <a:extLst>
                  <a:ext uri="{0D108BD9-81ED-4DB2-BD59-A6C34878D82A}">
                    <a16:rowId xmlns:a16="http://schemas.microsoft.com/office/drawing/2014/main" val="1337395558"/>
                  </a:ext>
                </a:extLst>
              </a:tr>
              <a:tr h="257205">
                <a:tc>
                  <a:txBody>
                    <a:bodyPr/>
                    <a:lstStyle/>
                    <a:p>
                      <a:pPr algn="l" fontAlgn="b"/>
                      <a:r>
                        <a:rPr lang="en-US" sz="1000" b="0" i="0" u="none" strike="noStrike">
                          <a:solidFill>
                            <a:schemeClr val="tx1"/>
                          </a:solidFill>
                          <a:effectLst/>
                          <a:latin typeface="Segoe UI" panose="020B0502040204020203" pitchFamily="34" charset="0"/>
                        </a:rPr>
                        <a:t>UNC5537</a:t>
                      </a:r>
                    </a:p>
                  </a:txBody>
                  <a:tcPr marL="9525" marR="9525" marT="9525" marB="0" anchor="b"/>
                </a:tc>
                <a:tc>
                  <a:txBody>
                    <a:bodyPr/>
                    <a:lstStyle/>
                    <a:p>
                      <a:pPr algn="r" fontAlgn="b"/>
                      <a:r>
                        <a:rPr lang="en-US" sz="1000" b="0" i="0" u="none" strike="noStrike" dirty="0">
                          <a:solidFill>
                            <a:schemeClr val="tx1"/>
                          </a:solidFill>
                          <a:effectLst/>
                          <a:latin typeface="Segoe UI" panose="020B0502040204020203" pitchFamily="34" charset="0"/>
                        </a:rPr>
                        <a:t>91</a:t>
                      </a:r>
                    </a:p>
                  </a:txBody>
                  <a:tcPr marL="9525" marR="9525" marT="9525" marB="0" anchor="b"/>
                </a:tc>
                <a:tc>
                  <a:txBody>
                    <a:bodyPr/>
                    <a:lstStyle/>
                    <a:p>
                      <a:pPr algn="l" fontAlgn="b"/>
                      <a:r>
                        <a:rPr lang="en-US" sz="1000" b="0" i="0" u="none" strike="noStrike" dirty="0">
                          <a:solidFill>
                            <a:schemeClr val="tx1"/>
                          </a:solidFill>
                          <a:effectLst/>
                          <a:latin typeface="Segoe UI" panose="020B0502040204020203" pitchFamily="34" charset="0"/>
                        </a:rPr>
                        <a:t>304.9</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288.0</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149.0</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568.0</a:t>
                      </a:r>
                    </a:p>
                  </a:txBody>
                  <a:tcPr marL="9525" marR="9525" marT="9525" marB="0" anchor="b"/>
                </a:tc>
                <a:extLst>
                  <a:ext uri="{0D108BD9-81ED-4DB2-BD59-A6C34878D82A}">
                    <a16:rowId xmlns:a16="http://schemas.microsoft.com/office/drawing/2014/main" val="4256056621"/>
                  </a:ext>
                </a:extLst>
              </a:tr>
              <a:tr h="257205">
                <a:tc>
                  <a:txBody>
                    <a:bodyPr/>
                    <a:lstStyle/>
                    <a:p>
                      <a:pPr algn="l" fontAlgn="b"/>
                      <a:r>
                        <a:rPr lang="en-US" sz="1000" b="0" i="0" u="none" strike="noStrike">
                          <a:solidFill>
                            <a:schemeClr val="tx1"/>
                          </a:solidFill>
                          <a:effectLst/>
                          <a:latin typeface="Segoe UI" panose="020B0502040204020203" pitchFamily="34" charset="0"/>
                        </a:rPr>
                        <a:t>Cozy Bear</a:t>
                      </a:r>
                    </a:p>
                  </a:txBody>
                  <a:tcPr marL="9525" marR="9525" marT="9525" marB="0" anchor="b"/>
                </a:tc>
                <a:tc>
                  <a:txBody>
                    <a:bodyPr/>
                    <a:lstStyle/>
                    <a:p>
                      <a:pPr algn="r" fontAlgn="b"/>
                      <a:r>
                        <a:rPr lang="en-US" sz="1000" b="0" i="0" u="none" strike="noStrike" dirty="0">
                          <a:solidFill>
                            <a:schemeClr val="tx1"/>
                          </a:solidFill>
                          <a:effectLst/>
                          <a:latin typeface="Segoe UI" panose="020B0502040204020203" pitchFamily="34" charset="0"/>
                        </a:rPr>
                        <a:t>20</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379.6</a:t>
                      </a:r>
                    </a:p>
                  </a:txBody>
                  <a:tcPr marL="9525" marR="9525" marT="9525" marB="0" anchor="b"/>
                </a:tc>
                <a:tc>
                  <a:txBody>
                    <a:bodyPr/>
                    <a:lstStyle/>
                    <a:p>
                      <a:pPr algn="l" fontAlgn="b"/>
                      <a:r>
                        <a:rPr lang="en-US" sz="1000" b="0" i="0" u="none" strike="noStrike" dirty="0">
                          <a:solidFill>
                            <a:schemeClr val="tx1"/>
                          </a:solidFill>
                          <a:effectLst/>
                          <a:latin typeface="Segoe UI" panose="020B0502040204020203" pitchFamily="34" charset="0"/>
                        </a:rPr>
                        <a:t>313.0</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141.0</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846.0</a:t>
                      </a:r>
                    </a:p>
                  </a:txBody>
                  <a:tcPr marL="9525" marR="9525" marT="9525" marB="0" anchor="b"/>
                </a:tc>
                <a:extLst>
                  <a:ext uri="{0D108BD9-81ED-4DB2-BD59-A6C34878D82A}">
                    <a16:rowId xmlns:a16="http://schemas.microsoft.com/office/drawing/2014/main" val="4037251872"/>
                  </a:ext>
                </a:extLst>
              </a:tr>
              <a:tr h="257205">
                <a:tc>
                  <a:txBody>
                    <a:bodyPr/>
                    <a:lstStyle/>
                    <a:p>
                      <a:pPr algn="l" fontAlgn="b"/>
                      <a:r>
                        <a:rPr lang="en-US" sz="1000" b="0" i="0" u="none" strike="noStrike">
                          <a:solidFill>
                            <a:schemeClr val="tx1"/>
                          </a:solidFill>
                          <a:effectLst/>
                          <a:latin typeface="Segoe UI" panose="020B0502040204020203" pitchFamily="34" charset="0"/>
                        </a:rPr>
                        <a:t>Fancy Bear</a:t>
                      </a:r>
                    </a:p>
                  </a:txBody>
                  <a:tcPr marL="9525" marR="9525" marT="9525" marB="0" anchor="b"/>
                </a:tc>
                <a:tc>
                  <a:txBody>
                    <a:bodyPr/>
                    <a:lstStyle/>
                    <a:p>
                      <a:pPr algn="r" fontAlgn="b"/>
                      <a:r>
                        <a:rPr lang="en-US" sz="1000" b="0" i="0" u="none" strike="noStrike" dirty="0">
                          <a:solidFill>
                            <a:schemeClr val="tx1"/>
                          </a:solidFill>
                          <a:effectLst/>
                          <a:latin typeface="Segoe UI" panose="020B0502040204020203" pitchFamily="34" charset="0"/>
                        </a:rPr>
                        <a:t>17</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374.0</a:t>
                      </a:r>
                    </a:p>
                  </a:txBody>
                  <a:tcPr marL="9525" marR="9525" marT="9525" marB="0" anchor="b"/>
                </a:tc>
                <a:tc>
                  <a:txBody>
                    <a:bodyPr/>
                    <a:lstStyle/>
                    <a:p>
                      <a:pPr algn="l" fontAlgn="b"/>
                      <a:r>
                        <a:rPr lang="en-US" sz="1000" b="0" i="0" u="none" strike="noStrike" dirty="0">
                          <a:solidFill>
                            <a:schemeClr val="tx1"/>
                          </a:solidFill>
                          <a:effectLst/>
                          <a:latin typeface="Segoe UI" panose="020B0502040204020203" pitchFamily="34" charset="0"/>
                        </a:rPr>
                        <a:t>310.0</a:t>
                      </a:r>
                    </a:p>
                  </a:txBody>
                  <a:tcPr marL="9525" marR="9525" marT="9525" marB="0" anchor="b"/>
                </a:tc>
                <a:tc>
                  <a:txBody>
                    <a:bodyPr/>
                    <a:lstStyle/>
                    <a:p>
                      <a:pPr algn="l" fontAlgn="b"/>
                      <a:r>
                        <a:rPr lang="en-US" sz="1000" b="0" i="0" u="none" strike="noStrike" dirty="0">
                          <a:solidFill>
                            <a:schemeClr val="tx1"/>
                          </a:solidFill>
                          <a:effectLst/>
                          <a:latin typeface="Segoe UI" panose="020B0502040204020203" pitchFamily="34" charset="0"/>
                        </a:rPr>
                        <a:t>33.0</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846.0</a:t>
                      </a:r>
                    </a:p>
                  </a:txBody>
                  <a:tcPr marL="9525" marR="9525" marT="9525" marB="0" anchor="b"/>
                </a:tc>
                <a:extLst>
                  <a:ext uri="{0D108BD9-81ED-4DB2-BD59-A6C34878D82A}">
                    <a16:rowId xmlns:a16="http://schemas.microsoft.com/office/drawing/2014/main" val="541658865"/>
                  </a:ext>
                </a:extLst>
              </a:tr>
              <a:tr h="257205">
                <a:tc>
                  <a:txBody>
                    <a:bodyPr/>
                    <a:lstStyle/>
                    <a:p>
                      <a:pPr algn="l" fontAlgn="b"/>
                      <a:r>
                        <a:rPr lang="en-US" sz="1000" b="0" i="0" u="none" strike="noStrike">
                          <a:solidFill>
                            <a:schemeClr val="tx1"/>
                          </a:solidFill>
                          <a:effectLst/>
                          <a:latin typeface="Segoe UI" panose="020B0502040204020203" pitchFamily="34" charset="0"/>
                        </a:rPr>
                        <a:t>Emerald Sleet</a:t>
                      </a:r>
                    </a:p>
                  </a:txBody>
                  <a:tcPr marL="9525" marR="9525" marT="9525" marB="0" anchor="b"/>
                </a:tc>
                <a:tc>
                  <a:txBody>
                    <a:bodyPr/>
                    <a:lstStyle/>
                    <a:p>
                      <a:pPr algn="r" fontAlgn="b"/>
                      <a:r>
                        <a:rPr lang="en-US" sz="1000" b="0" i="0" u="none" strike="noStrike" dirty="0">
                          <a:solidFill>
                            <a:schemeClr val="tx1"/>
                          </a:solidFill>
                          <a:effectLst/>
                          <a:latin typeface="Segoe UI" panose="020B0502040204020203" pitchFamily="34" charset="0"/>
                        </a:rPr>
                        <a:t>17</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255.4</a:t>
                      </a:r>
                    </a:p>
                  </a:txBody>
                  <a:tcPr marL="9525" marR="9525" marT="9525" marB="0" anchor="b"/>
                </a:tc>
                <a:tc>
                  <a:txBody>
                    <a:bodyPr/>
                    <a:lstStyle/>
                    <a:p>
                      <a:pPr algn="l" fontAlgn="b"/>
                      <a:r>
                        <a:rPr lang="en-US" sz="1000" b="0" i="0" u="none" strike="noStrike" dirty="0">
                          <a:solidFill>
                            <a:schemeClr val="tx1"/>
                          </a:solidFill>
                          <a:effectLst/>
                          <a:latin typeface="Segoe UI" panose="020B0502040204020203" pitchFamily="34" charset="0"/>
                        </a:rPr>
                        <a:t>199.0</a:t>
                      </a:r>
                    </a:p>
                  </a:txBody>
                  <a:tcPr marL="9525" marR="9525" marT="9525" marB="0" anchor="b"/>
                </a:tc>
                <a:tc>
                  <a:txBody>
                    <a:bodyPr/>
                    <a:lstStyle/>
                    <a:p>
                      <a:pPr algn="l" fontAlgn="b"/>
                      <a:r>
                        <a:rPr lang="en-US" sz="1000" b="0" i="0" u="none" strike="noStrike" dirty="0">
                          <a:solidFill>
                            <a:schemeClr val="tx1"/>
                          </a:solidFill>
                          <a:effectLst/>
                          <a:latin typeface="Segoe UI" panose="020B0502040204020203" pitchFamily="34" charset="0"/>
                        </a:rPr>
                        <a:t>35.0</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374.0</a:t>
                      </a:r>
                    </a:p>
                  </a:txBody>
                  <a:tcPr marL="9525" marR="9525" marT="9525" marB="0" anchor="b"/>
                </a:tc>
                <a:extLst>
                  <a:ext uri="{0D108BD9-81ED-4DB2-BD59-A6C34878D82A}">
                    <a16:rowId xmlns:a16="http://schemas.microsoft.com/office/drawing/2014/main" val="1378602607"/>
                  </a:ext>
                </a:extLst>
              </a:tr>
              <a:tr h="257205">
                <a:tc>
                  <a:txBody>
                    <a:bodyPr/>
                    <a:lstStyle/>
                    <a:p>
                      <a:pPr algn="l" fontAlgn="b"/>
                      <a:r>
                        <a:rPr lang="en-US" sz="1000" b="0" i="0" u="none" strike="noStrike">
                          <a:solidFill>
                            <a:schemeClr val="tx1"/>
                          </a:solidFill>
                          <a:effectLst/>
                          <a:latin typeface="Segoe UI" panose="020B0502040204020203" pitchFamily="34" charset="0"/>
                        </a:rPr>
                        <a:t>Onyx Sleet</a:t>
                      </a:r>
                    </a:p>
                  </a:txBody>
                  <a:tcPr marL="9525" marR="9525" marT="9525" marB="0" anchor="b"/>
                </a:tc>
                <a:tc>
                  <a:txBody>
                    <a:bodyPr/>
                    <a:lstStyle/>
                    <a:p>
                      <a:pPr algn="r" fontAlgn="b"/>
                      <a:r>
                        <a:rPr lang="en-US" sz="1000" b="0" i="0" u="none" strike="noStrike" dirty="0">
                          <a:solidFill>
                            <a:schemeClr val="tx1"/>
                          </a:solidFill>
                          <a:effectLst/>
                          <a:latin typeface="Segoe UI" panose="020B0502040204020203" pitchFamily="34" charset="0"/>
                        </a:rPr>
                        <a:t>17</a:t>
                      </a:r>
                    </a:p>
                  </a:txBody>
                  <a:tcPr marL="9525" marR="9525" marT="9525" marB="0" anchor="b"/>
                </a:tc>
                <a:tc>
                  <a:txBody>
                    <a:bodyPr/>
                    <a:lstStyle/>
                    <a:p>
                      <a:pPr algn="l" fontAlgn="b"/>
                      <a:r>
                        <a:rPr lang="en-US" sz="1000" b="0" i="0" u="none" strike="noStrike" dirty="0">
                          <a:solidFill>
                            <a:schemeClr val="tx1"/>
                          </a:solidFill>
                          <a:effectLst/>
                          <a:latin typeface="Segoe UI" panose="020B0502040204020203" pitchFamily="34" charset="0"/>
                        </a:rPr>
                        <a:t>255.4</a:t>
                      </a:r>
                    </a:p>
                  </a:txBody>
                  <a:tcPr marL="9525" marR="9525" marT="9525" marB="0" anchor="b"/>
                </a:tc>
                <a:tc>
                  <a:txBody>
                    <a:bodyPr/>
                    <a:lstStyle/>
                    <a:p>
                      <a:pPr algn="l" fontAlgn="b"/>
                      <a:r>
                        <a:rPr lang="en-US" sz="1000" b="0" i="0" u="none" strike="noStrike" dirty="0">
                          <a:solidFill>
                            <a:schemeClr val="tx1"/>
                          </a:solidFill>
                          <a:effectLst/>
                          <a:latin typeface="Segoe UI" panose="020B0502040204020203" pitchFamily="34" charset="0"/>
                        </a:rPr>
                        <a:t>199.0</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35.0</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374.0</a:t>
                      </a:r>
                    </a:p>
                  </a:txBody>
                  <a:tcPr marL="9525" marR="9525" marT="9525" marB="0" anchor="b"/>
                </a:tc>
                <a:extLst>
                  <a:ext uri="{0D108BD9-81ED-4DB2-BD59-A6C34878D82A}">
                    <a16:rowId xmlns:a16="http://schemas.microsoft.com/office/drawing/2014/main" val="2737695513"/>
                  </a:ext>
                </a:extLst>
              </a:tr>
              <a:tr h="257205">
                <a:tc>
                  <a:txBody>
                    <a:bodyPr/>
                    <a:lstStyle/>
                    <a:p>
                      <a:pPr algn="l" fontAlgn="b"/>
                      <a:r>
                        <a:rPr lang="en-US" sz="1000" b="0" i="0" u="none" strike="noStrike">
                          <a:solidFill>
                            <a:schemeClr val="tx1"/>
                          </a:solidFill>
                          <a:effectLst/>
                          <a:latin typeface="Segoe UI" panose="020B0502040204020203" pitchFamily="34" charset="0"/>
                        </a:rPr>
                        <a:t>Richochet Chollima</a:t>
                      </a:r>
                    </a:p>
                  </a:txBody>
                  <a:tcPr marL="9525" marR="9525" marT="9525" marB="0" anchor="b"/>
                </a:tc>
                <a:tc>
                  <a:txBody>
                    <a:bodyPr/>
                    <a:lstStyle/>
                    <a:p>
                      <a:pPr algn="r" fontAlgn="b"/>
                      <a:r>
                        <a:rPr lang="en-US" sz="1000" b="0" i="0" u="none" strike="noStrike" dirty="0">
                          <a:solidFill>
                            <a:schemeClr val="tx1"/>
                          </a:solidFill>
                          <a:effectLst/>
                          <a:latin typeface="Segoe UI" panose="020B0502040204020203" pitchFamily="34" charset="0"/>
                        </a:rPr>
                        <a:t>17</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255.4</a:t>
                      </a:r>
                    </a:p>
                  </a:txBody>
                  <a:tcPr marL="9525" marR="9525" marT="9525" marB="0" anchor="b"/>
                </a:tc>
                <a:tc>
                  <a:txBody>
                    <a:bodyPr/>
                    <a:lstStyle/>
                    <a:p>
                      <a:pPr algn="l" fontAlgn="b"/>
                      <a:r>
                        <a:rPr lang="en-US" sz="1000" b="0" i="0" u="none" strike="noStrike" dirty="0">
                          <a:solidFill>
                            <a:schemeClr val="tx1"/>
                          </a:solidFill>
                          <a:effectLst/>
                          <a:latin typeface="Segoe UI" panose="020B0502040204020203" pitchFamily="34" charset="0"/>
                        </a:rPr>
                        <a:t>199.0</a:t>
                      </a:r>
                    </a:p>
                  </a:txBody>
                  <a:tcPr marL="9525" marR="9525" marT="9525" marB="0" anchor="b"/>
                </a:tc>
                <a:tc>
                  <a:txBody>
                    <a:bodyPr/>
                    <a:lstStyle/>
                    <a:p>
                      <a:pPr algn="l" fontAlgn="b"/>
                      <a:r>
                        <a:rPr lang="en-US" sz="1000" b="0" i="0" u="none" strike="noStrike" dirty="0">
                          <a:solidFill>
                            <a:schemeClr val="tx1"/>
                          </a:solidFill>
                          <a:effectLst/>
                          <a:latin typeface="Segoe UI" panose="020B0502040204020203" pitchFamily="34" charset="0"/>
                        </a:rPr>
                        <a:t>35.0</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374.0</a:t>
                      </a:r>
                    </a:p>
                  </a:txBody>
                  <a:tcPr marL="9525" marR="9525" marT="9525" marB="0" anchor="b"/>
                </a:tc>
                <a:extLst>
                  <a:ext uri="{0D108BD9-81ED-4DB2-BD59-A6C34878D82A}">
                    <a16:rowId xmlns:a16="http://schemas.microsoft.com/office/drawing/2014/main" val="186107681"/>
                  </a:ext>
                </a:extLst>
              </a:tr>
              <a:tr h="257205">
                <a:tc>
                  <a:txBody>
                    <a:bodyPr/>
                    <a:lstStyle/>
                    <a:p>
                      <a:pPr algn="l" fontAlgn="b"/>
                      <a:r>
                        <a:rPr lang="en-US" sz="1000" b="0" i="0" u="none" strike="noStrike">
                          <a:solidFill>
                            <a:schemeClr val="tx1"/>
                          </a:solidFill>
                          <a:effectLst/>
                          <a:latin typeface="Segoe UI" panose="020B0502040204020203" pitchFamily="34" charset="0"/>
                        </a:rPr>
                        <a:t>Stardust Chollima</a:t>
                      </a:r>
                    </a:p>
                  </a:txBody>
                  <a:tcPr marL="9525" marR="9525" marT="9525" marB="0" anchor="b"/>
                </a:tc>
                <a:tc>
                  <a:txBody>
                    <a:bodyPr/>
                    <a:lstStyle/>
                    <a:p>
                      <a:pPr algn="r" fontAlgn="b"/>
                      <a:r>
                        <a:rPr lang="en-US" sz="1000" b="0" i="0" u="none" strike="noStrike" dirty="0">
                          <a:solidFill>
                            <a:schemeClr val="tx1"/>
                          </a:solidFill>
                          <a:effectLst/>
                          <a:latin typeface="Segoe UI" panose="020B0502040204020203" pitchFamily="34" charset="0"/>
                        </a:rPr>
                        <a:t>17</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255.4</a:t>
                      </a:r>
                    </a:p>
                  </a:txBody>
                  <a:tcPr marL="9525" marR="9525" marT="9525" marB="0" anchor="b"/>
                </a:tc>
                <a:tc>
                  <a:txBody>
                    <a:bodyPr/>
                    <a:lstStyle/>
                    <a:p>
                      <a:pPr algn="l" fontAlgn="b"/>
                      <a:r>
                        <a:rPr lang="en-US" sz="1000" b="0" i="0" u="none" strike="noStrike" dirty="0">
                          <a:solidFill>
                            <a:schemeClr val="tx1"/>
                          </a:solidFill>
                          <a:effectLst/>
                          <a:latin typeface="Segoe UI" panose="020B0502040204020203" pitchFamily="34" charset="0"/>
                        </a:rPr>
                        <a:t>199.0</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35.0</a:t>
                      </a:r>
                    </a:p>
                  </a:txBody>
                  <a:tcPr marL="9525" marR="9525" marT="9525" marB="0" anchor="b"/>
                </a:tc>
                <a:tc>
                  <a:txBody>
                    <a:bodyPr/>
                    <a:lstStyle/>
                    <a:p>
                      <a:pPr algn="l" fontAlgn="b"/>
                      <a:r>
                        <a:rPr lang="en-US" sz="1000" b="0" i="0" u="none" strike="noStrike" dirty="0">
                          <a:solidFill>
                            <a:schemeClr val="tx1"/>
                          </a:solidFill>
                          <a:effectLst/>
                          <a:latin typeface="Segoe UI" panose="020B0502040204020203" pitchFamily="34" charset="0"/>
                        </a:rPr>
                        <a:t>374.0</a:t>
                      </a:r>
                    </a:p>
                  </a:txBody>
                  <a:tcPr marL="9525" marR="9525" marT="9525" marB="0" anchor="b"/>
                </a:tc>
                <a:extLst>
                  <a:ext uri="{0D108BD9-81ED-4DB2-BD59-A6C34878D82A}">
                    <a16:rowId xmlns:a16="http://schemas.microsoft.com/office/drawing/2014/main" val="3477755508"/>
                  </a:ext>
                </a:extLst>
              </a:tr>
              <a:tr h="257205">
                <a:tc>
                  <a:txBody>
                    <a:bodyPr/>
                    <a:lstStyle/>
                    <a:p>
                      <a:pPr algn="l" fontAlgn="b"/>
                      <a:r>
                        <a:rPr lang="en-US" sz="1000" b="0" i="0" u="none" strike="noStrike">
                          <a:solidFill>
                            <a:schemeClr val="tx1"/>
                          </a:solidFill>
                          <a:effectLst/>
                          <a:latin typeface="Segoe UI" panose="020B0502040204020203" pitchFamily="34" charset="0"/>
                        </a:rPr>
                        <a:t>Diamond Sleet</a:t>
                      </a:r>
                    </a:p>
                  </a:txBody>
                  <a:tcPr marL="9525" marR="9525" marT="9525" marB="0" anchor="b"/>
                </a:tc>
                <a:tc>
                  <a:txBody>
                    <a:bodyPr/>
                    <a:lstStyle/>
                    <a:p>
                      <a:pPr algn="r" fontAlgn="b"/>
                      <a:r>
                        <a:rPr lang="en-US" sz="1000" b="0" i="0" u="none" strike="noStrike">
                          <a:solidFill>
                            <a:schemeClr val="tx1"/>
                          </a:solidFill>
                          <a:effectLst/>
                          <a:latin typeface="Segoe UI" panose="020B0502040204020203" pitchFamily="34" charset="0"/>
                        </a:rPr>
                        <a:t>16</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256.5</a:t>
                      </a:r>
                    </a:p>
                  </a:txBody>
                  <a:tcPr marL="9525" marR="9525" marT="9525" marB="0" anchor="b"/>
                </a:tc>
                <a:tc>
                  <a:txBody>
                    <a:bodyPr/>
                    <a:lstStyle/>
                    <a:p>
                      <a:pPr algn="l" fontAlgn="b"/>
                      <a:r>
                        <a:rPr lang="en-US" sz="1000" b="0" i="0" u="none" strike="noStrike" dirty="0">
                          <a:solidFill>
                            <a:schemeClr val="tx1"/>
                          </a:solidFill>
                          <a:effectLst/>
                          <a:latin typeface="Segoe UI" panose="020B0502040204020203" pitchFamily="34" charset="0"/>
                        </a:rPr>
                        <a:t>199.0</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35.0</a:t>
                      </a:r>
                    </a:p>
                  </a:txBody>
                  <a:tcPr marL="9525" marR="9525" marT="9525" marB="0" anchor="b"/>
                </a:tc>
                <a:tc>
                  <a:txBody>
                    <a:bodyPr/>
                    <a:lstStyle/>
                    <a:p>
                      <a:pPr algn="l" fontAlgn="b"/>
                      <a:r>
                        <a:rPr lang="en-US" sz="1000" b="0" i="0" u="none" strike="noStrike" dirty="0">
                          <a:solidFill>
                            <a:schemeClr val="tx1"/>
                          </a:solidFill>
                          <a:effectLst/>
                          <a:latin typeface="Segoe UI" panose="020B0502040204020203" pitchFamily="34" charset="0"/>
                        </a:rPr>
                        <a:t>374.0</a:t>
                      </a:r>
                    </a:p>
                  </a:txBody>
                  <a:tcPr marL="9525" marR="9525" marT="9525" marB="0" anchor="b"/>
                </a:tc>
                <a:extLst>
                  <a:ext uri="{0D108BD9-81ED-4DB2-BD59-A6C34878D82A}">
                    <a16:rowId xmlns:a16="http://schemas.microsoft.com/office/drawing/2014/main" val="4293503773"/>
                  </a:ext>
                </a:extLst>
              </a:tr>
              <a:tr h="257205">
                <a:tc>
                  <a:txBody>
                    <a:bodyPr/>
                    <a:lstStyle/>
                    <a:p>
                      <a:pPr algn="l" fontAlgn="b"/>
                      <a:r>
                        <a:rPr lang="en-US" sz="1000" b="0" i="0" u="none" strike="noStrike">
                          <a:solidFill>
                            <a:schemeClr val="tx1"/>
                          </a:solidFill>
                          <a:effectLst/>
                          <a:latin typeface="Segoe UI" panose="020B0502040204020203" pitchFamily="34" charset="0"/>
                        </a:rPr>
                        <a:t>Scattered Spider</a:t>
                      </a:r>
                    </a:p>
                  </a:txBody>
                  <a:tcPr marL="9525" marR="9525" marT="9525" marB="0" anchor="b"/>
                </a:tc>
                <a:tc>
                  <a:txBody>
                    <a:bodyPr/>
                    <a:lstStyle/>
                    <a:p>
                      <a:pPr algn="r" fontAlgn="b"/>
                      <a:r>
                        <a:rPr lang="en-US" sz="1000" b="0" i="0" u="none" strike="noStrike">
                          <a:solidFill>
                            <a:schemeClr val="tx1"/>
                          </a:solidFill>
                          <a:effectLst/>
                          <a:latin typeface="Segoe UI" panose="020B0502040204020203" pitchFamily="34" charset="0"/>
                        </a:rPr>
                        <a:t>16</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351.6</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299.5</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199.0</a:t>
                      </a:r>
                    </a:p>
                  </a:txBody>
                  <a:tcPr marL="9525" marR="9525" marT="9525" marB="0" anchor="b"/>
                </a:tc>
                <a:tc>
                  <a:txBody>
                    <a:bodyPr/>
                    <a:lstStyle/>
                    <a:p>
                      <a:pPr algn="l" fontAlgn="b"/>
                      <a:r>
                        <a:rPr lang="en-US" sz="1000" b="0" i="0" u="none" strike="noStrike" dirty="0">
                          <a:solidFill>
                            <a:schemeClr val="tx1"/>
                          </a:solidFill>
                          <a:effectLst/>
                          <a:latin typeface="Segoe UI" panose="020B0502040204020203" pitchFamily="34" charset="0"/>
                        </a:rPr>
                        <a:t>589.0</a:t>
                      </a:r>
                    </a:p>
                  </a:txBody>
                  <a:tcPr marL="9525" marR="9525" marT="9525" marB="0" anchor="b"/>
                </a:tc>
                <a:extLst>
                  <a:ext uri="{0D108BD9-81ED-4DB2-BD59-A6C34878D82A}">
                    <a16:rowId xmlns:a16="http://schemas.microsoft.com/office/drawing/2014/main" val="4205460967"/>
                  </a:ext>
                </a:extLst>
              </a:tr>
            </a:tbl>
          </a:graphicData>
        </a:graphic>
      </p:graphicFrame>
      <p:sp>
        <p:nvSpPr>
          <p:cNvPr id="4" name="Content Placeholder 3">
            <a:extLst>
              <a:ext uri="{FF2B5EF4-FFF2-40B4-BE49-F238E27FC236}">
                <a16:creationId xmlns:a16="http://schemas.microsoft.com/office/drawing/2014/main" id="{F2F8C724-4E50-01C1-5160-39EAFC14460D}"/>
              </a:ext>
            </a:extLst>
          </p:cNvPr>
          <p:cNvSpPr>
            <a:spLocks noGrp="1"/>
          </p:cNvSpPr>
          <p:nvPr>
            <p:ph sz="half" idx="2"/>
          </p:nvPr>
        </p:nvSpPr>
        <p:spPr>
          <a:xfrm>
            <a:off x="7142674" y="1646238"/>
            <a:ext cx="4659700" cy="4340494"/>
          </a:xfrm>
        </p:spPr>
        <p:txBody>
          <a:bodyPr>
            <a:normAutofit fontScale="92500"/>
          </a:bodyPr>
          <a:lstStyle/>
          <a:p>
            <a:pPr>
              <a:lnSpc>
                <a:spcPct val="120000"/>
              </a:lnSpc>
            </a:pPr>
            <a:r>
              <a:rPr lang="en-US" sz="1200" dirty="0"/>
              <a:t>The data shows clear variation in threat severity across actor groups. Actors such as </a:t>
            </a:r>
            <a:r>
              <a:rPr lang="en-US" sz="1200" b="1" dirty="0"/>
              <a:t>Cozy Bear</a:t>
            </a:r>
            <a:r>
              <a:rPr lang="en-US" sz="1200" dirty="0"/>
              <a:t>, </a:t>
            </a:r>
            <a:r>
              <a:rPr lang="en-US" sz="1200" b="1" dirty="0"/>
              <a:t>Fancy Bear</a:t>
            </a:r>
            <a:r>
              <a:rPr lang="en-US" sz="1200" dirty="0"/>
              <a:t>, and </a:t>
            </a:r>
            <a:r>
              <a:rPr lang="en-US" sz="1200" b="1" dirty="0"/>
              <a:t>Scattered Spider</a:t>
            </a:r>
            <a:r>
              <a:rPr lang="en-US" sz="1200" dirty="0"/>
              <a:t> exhibit the </a:t>
            </a:r>
            <a:r>
              <a:rPr lang="en-US" sz="1200" b="1" dirty="0"/>
              <a:t>highest average and peak scores</a:t>
            </a:r>
            <a:r>
              <a:rPr lang="en-US" sz="1200" dirty="0"/>
              <a:t>, suggesting their associated indicators present elevated malicious potential and risk. Cozy Bear and Fancy Bear both reach maximum scores of </a:t>
            </a:r>
            <a:r>
              <a:rPr lang="en-US" sz="1200" b="1" dirty="0"/>
              <a:t>846</a:t>
            </a:r>
            <a:r>
              <a:rPr lang="en-US" sz="1200" dirty="0"/>
              <a:t>, indicating the presence of highly significant indicator or shared indicator, while Scattered Spider maintains both a high average score (351.6) and a strong minimum baseline (199), reflecting consistently severe behavior across its dataset.</a:t>
            </a:r>
          </a:p>
          <a:p>
            <a:pPr>
              <a:lnSpc>
                <a:spcPct val="120000"/>
              </a:lnSpc>
            </a:pPr>
            <a:r>
              <a:rPr lang="en-US" sz="1200" dirty="0"/>
              <a:t>In contrast, groups like </a:t>
            </a:r>
            <a:r>
              <a:rPr lang="en-US" sz="1200" b="1" dirty="0"/>
              <a:t>Mr. Hamza Group</a:t>
            </a:r>
            <a:r>
              <a:rPr lang="en-US" sz="1200" dirty="0"/>
              <a:t> generate large volumes of indicators (156) but with comparatively low average severity, implying widespread but lower-impact activity. Mid-tier clusters—including </a:t>
            </a:r>
            <a:r>
              <a:rPr lang="en-US" sz="1200" b="1" dirty="0"/>
              <a:t>Emerald Sleet</a:t>
            </a:r>
            <a:r>
              <a:rPr lang="en-US" sz="1200" dirty="0"/>
              <a:t>, </a:t>
            </a:r>
            <a:r>
              <a:rPr lang="en-US" sz="1200" b="1" dirty="0"/>
              <a:t>Onyx Sleet</a:t>
            </a:r>
            <a:r>
              <a:rPr lang="en-US" sz="1200" dirty="0"/>
              <a:t>, </a:t>
            </a:r>
            <a:r>
              <a:rPr lang="en-US" sz="1200" b="1" dirty="0" err="1"/>
              <a:t>Richochet</a:t>
            </a:r>
            <a:r>
              <a:rPr lang="en-US" sz="1200" b="1" dirty="0"/>
              <a:t> </a:t>
            </a:r>
            <a:r>
              <a:rPr lang="en-US" sz="1200" b="1" dirty="0" err="1"/>
              <a:t>Chollima</a:t>
            </a:r>
            <a:r>
              <a:rPr lang="en-US" sz="1200" dirty="0"/>
              <a:t>, </a:t>
            </a:r>
            <a:r>
              <a:rPr lang="en-US" sz="1200" b="1" dirty="0"/>
              <a:t>Stardust </a:t>
            </a:r>
            <a:r>
              <a:rPr lang="en-US" sz="1200" b="1" dirty="0" err="1"/>
              <a:t>Chollima</a:t>
            </a:r>
            <a:r>
              <a:rPr lang="en-US" sz="1200" dirty="0"/>
              <a:t>, and </a:t>
            </a:r>
            <a:r>
              <a:rPr lang="en-US" sz="1200" b="1" dirty="0"/>
              <a:t>Diamond Sleet</a:t>
            </a:r>
            <a:r>
              <a:rPr lang="en-US" sz="1200" dirty="0"/>
              <a:t>—share nearly identical score distributions, indicating similar characteristics or shared indicators. Overall, the analysis highlights which actors show </a:t>
            </a:r>
            <a:r>
              <a:rPr lang="en-US" sz="1200" b="1" dirty="0"/>
              <a:t>high-severity, high-risk patterns</a:t>
            </a:r>
            <a:r>
              <a:rPr lang="en-US" sz="1200" dirty="0"/>
              <a:t> versus those generating </a:t>
            </a:r>
            <a:r>
              <a:rPr lang="en-US" sz="1200" b="1" dirty="0"/>
              <a:t>high quantity but lower individual threat significance</a:t>
            </a:r>
            <a:r>
              <a:rPr lang="en-US" sz="1200" dirty="0"/>
              <a:t>, helping prioritize analytical efforts.</a:t>
            </a:r>
          </a:p>
          <a:p>
            <a:pPr marL="0" indent="0">
              <a:buNone/>
            </a:pPr>
            <a:endParaRPr lang="en-US" sz="900" dirty="0"/>
          </a:p>
        </p:txBody>
      </p:sp>
    </p:spTree>
    <p:extLst>
      <p:ext uri="{BB962C8B-B14F-4D97-AF65-F5344CB8AC3E}">
        <p14:creationId xmlns:p14="http://schemas.microsoft.com/office/powerpoint/2010/main" val="3517465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2AACB-E61E-95FE-DC04-D6F19012D697}"/>
              </a:ext>
            </a:extLst>
          </p:cNvPr>
          <p:cNvSpPr>
            <a:spLocks noGrp="1"/>
          </p:cNvSpPr>
          <p:nvPr>
            <p:ph type="title"/>
          </p:nvPr>
        </p:nvSpPr>
        <p:spPr/>
        <p:txBody>
          <a:bodyPr/>
          <a:lstStyle/>
          <a:p>
            <a:r>
              <a:rPr lang="en-US" dirty="0"/>
              <a:t>Critical &amp; High Threat Actors</a:t>
            </a:r>
          </a:p>
        </p:txBody>
      </p:sp>
      <p:sp>
        <p:nvSpPr>
          <p:cNvPr id="4" name="Content Placeholder 3">
            <a:extLst>
              <a:ext uri="{FF2B5EF4-FFF2-40B4-BE49-F238E27FC236}">
                <a16:creationId xmlns:a16="http://schemas.microsoft.com/office/drawing/2014/main" id="{BDCDCEC7-73F2-8BD6-A1A3-68E4E471BAAA}"/>
              </a:ext>
            </a:extLst>
          </p:cNvPr>
          <p:cNvSpPr>
            <a:spLocks noGrp="1"/>
          </p:cNvSpPr>
          <p:nvPr>
            <p:ph sz="half" idx="2"/>
          </p:nvPr>
        </p:nvSpPr>
        <p:spPr>
          <a:xfrm>
            <a:off x="6003985" y="1775805"/>
            <a:ext cx="4892615" cy="4015395"/>
          </a:xfrm>
        </p:spPr>
        <p:txBody>
          <a:bodyPr>
            <a:normAutofit fontScale="25000" lnSpcReduction="20000"/>
          </a:bodyPr>
          <a:lstStyle/>
          <a:p>
            <a:pPr>
              <a:lnSpc>
                <a:spcPct val="120000"/>
              </a:lnSpc>
            </a:pPr>
            <a:r>
              <a:rPr lang="en-US" sz="4800" dirty="0"/>
              <a:t>The distribution of high- and critical-severity indicators reveals which threat actors currently present the greatest risk. Although </a:t>
            </a:r>
            <a:r>
              <a:rPr lang="en-US" sz="4800" b="1" dirty="0"/>
              <a:t>UNC5537</a:t>
            </a:r>
            <a:r>
              <a:rPr lang="en-US" sz="4800" dirty="0"/>
              <a:t> has the highest volume of severe indicators (16 total), its activity is concentrated entirely within the </a:t>
            </a:r>
            <a:r>
              <a:rPr lang="en-US" sz="4800" i="1" dirty="0"/>
              <a:t>high</a:t>
            </a:r>
            <a:r>
              <a:rPr lang="en-US" sz="4800" dirty="0"/>
              <a:t> range (500–799), suggesting sustained malicious behavior but not at the extreme severity seen in other groups. Actors such as </a:t>
            </a:r>
            <a:r>
              <a:rPr lang="en-US" sz="4800" b="1" dirty="0"/>
              <a:t>Scattered Spider</a:t>
            </a:r>
            <a:r>
              <a:rPr lang="en-US" sz="4800" dirty="0"/>
              <a:t> and </a:t>
            </a:r>
            <a:r>
              <a:rPr lang="en-US" sz="4800" b="1" dirty="0"/>
              <a:t>Cozy Bear</a:t>
            </a:r>
            <a:r>
              <a:rPr lang="en-US" sz="4800" dirty="0"/>
              <a:t> also show notable high-severity presence, with Cozy Bear additionally generating </a:t>
            </a:r>
            <a:r>
              <a:rPr lang="en-US" sz="4800" b="1" dirty="0"/>
              <a:t>two critical indicators</a:t>
            </a:r>
            <a:r>
              <a:rPr lang="en-US" sz="4800" dirty="0"/>
              <a:t>, elevating its threat profile above other similarly sized actors.</a:t>
            </a:r>
          </a:p>
          <a:p>
            <a:pPr>
              <a:lnSpc>
                <a:spcPct val="120000"/>
              </a:lnSpc>
            </a:pPr>
            <a:r>
              <a:rPr lang="en-US" sz="4800" dirty="0"/>
              <a:t>Several advanced persistent threat (APT) groups—including </a:t>
            </a:r>
            <a:r>
              <a:rPr lang="en-US" sz="4800" b="1" dirty="0"/>
              <a:t>Fancy Bear, Salt Typhoon, UNC5807, Volt Typhoon, and Comment Panda</a:t>
            </a:r>
            <a:r>
              <a:rPr lang="en-US" sz="4800" dirty="0"/>
              <a:t>—each produce </a:t>
            </a:r>
            <a:r>
              <a:rPr lang="en-US" sz="4800" b="1" dirty="0"/>
              <a:t>multiple critical-severity indicators</a:t>
            </a:r>
            <a:r>
              <a:rPr lang="en-US" sz="4800" dirty="0"/>
              <a:t>, demonstrating engagement in operations with potentially significant impact. Meanwhile, a variety of single-indicator actors (e.g., </a:t>
            </a:r>
            <a:r>
              <a:rPr lang="en-US" sz="4800" b="1" dirty="0"/>
              <a:t>Seashell Blizzard, </a:t>
            </a:r>
            <a:r>
              <a:rPr lang="en-US" sz="4800" b="1" dirty="0" err="1"/>
              <a:t>RedNovember</a:t>
            </a:r>
            <a:r>
              <a:rPr lang="en-US" sz="4800" b="1" dirty="0"/>
              <a:t>, TAG-100</a:t>
            </a:r>
            <a:r>
              <a:rPr lang="en-US" sz="4800" dirty="0"/>
              <a:t>) appear with isolated but critical events, highlighting that even low-volume actors can generate high-severity threats. Overall, this distribution shows that while some actors pose consistent, high-volume risks, others pose </a:t>
            </a:r>
            <a:r>
              <a:rPr lang="en-US" sz="4800" b="1" dirty="0"/>
              <a:t>high-severity episodic risks</a:t>
            </a:r>
            <a:r>
              <a:rPr lang="en-US" sz="4800" dirty="0"/>
              <a:t>, both of which warrant prioritization in threat monitoring and response.</a:t>
            </a:r>
          </a:p>
          <a:p>
            <a:endParaRPr lang="en-US" dirty="0"/>
          </a:p>
        </p:txBody>
      </p:sp>
      <p:graphicFrame>
        <p:nvGraphicFramePr>
          <p:cNvPr id="11" name="Content Placeholder 10">
            <a:extLst>
              <a:ext uri="{FF2B5EF4-FFF2-40B4-BE49-F238E27FC236}">
                <a16:creationId xmlns:a16="http://schemas.microsoft.com/office/drawing/2014/main" id="{FCD73C1F-CB09-78D7-DE7A-AA74848A34BE}"/>
              </a:ext>
            </a:extLst>
          </p:cNvPr>
          <p:cNvGraphicFramePr>
            <a:graphicFrameLocks noGrp="1"/>
          </p:cNvGraphicFramePr>
          <p:nvPr>
            <p:ph sz="half" idx="1"/>
            <p:extLst>
              <p:ext uri="{D42A27DB-BD31-4B8C-83A1-F6EECF244321}">
                <p14:modId xmlns:p14="http://schemas.microsoft.com/office/powerpoint/2010/main" val="82413781"/>
              </p:ext>
            </p:extLst>
          </p:nvPr>
        </p:nvGraphicFramePr>
        <p:xfrm>
          <a:off x="1295400" y="1775805"/>
          <a:ext cx="4313208" cy="4305819"/>
        </p:xfrm>
        <a:graphic>
          <a:graphicData uri="http://schemas.openxmlformats.org/drawingml/2006/table">
            <a:tbl>
              <a:tblPr firstRow="1" bandRow="1">
                <a:tableStyleId>{BC89EF96-8CEA-46FF-86C4-4CE0E7609802}</a:tableStyleId>
              </a:tblPr>
              <a:tblGrid>
                <a:gridCol w="1078302">
                  <a:extLst>
                    <a:ext uri="{9D8B030D-6E8A-4147-A177-3AD203B41FA5}">
                      <a16:colId xmlns:a16="http://schemas.microsoft.com/office/drawing/2014/main" val="780060040"/>
                    </a:ext>
                  </a:extLst>
                </a:gridCol>
                <a:gridCol w="1078302">
                  <a:extLst>
                    <a:ext uri="{9D8B030D-6E8A-4147-A177-3AD203B41FA5}">
                      <a16:colId xmlns:a16="http://schemas.microsoft.com/office/drawing/2014/main" val="3346020997"/>
                    </a:ext>
                  </a:extLst>
                </a:gridCol>
                <a:gridCol w="1078302">
                  <a:extLst>
                    <a:ext uri="{9D8B030D-6E8A-4147-A177-3AD203B41FA5}">
                      <a16:colId xmlns:a16="http://schemas.microsoft.com/office/drawing/2014/main" val="343990707"/>
                    </a:ext>
                  </a:extLst>
                </a:gridCol>
                <a:gridCol w="1078302">
                  <a:extLst>
                    <a:ext uri="{9D8B030D-6E8A-4147-A177-3AD203B41FA5}">
                      <a16:colId xmlns:a16="http://schemas.microsoft.com/office/drawing/2014/main" val="3064117172"/>
                    </a:ext>
                  </a:extLst>
                </a:gridCol>
              </a:tblGrid>
              <a:tr h="402428">
                <a:tc>
                  <a:txBody>
                    <a:bodyPr/>
                    <a:lstStyle/>
                    <a:p>
                      <a:pPr algn="l" fontAlgn="b"/>
                      <a:r>
                        <a:rPr lang="en-US" sz="1200" b="1" i="0" u="none" strike="noStrike">
                          <a:solidFill>
                            <a:schemeClr val="tx1"/>
                          </a:solidFill>
                          <a:effectLst/>
                          <a:latin typeface="Segoe UI" panose="020B0502040204020203" pitchFamily="34" charset="0"/>
                        </a:rPr>
                        <a:t>Threat Actor</a:t>
                      </a:r>
                    </a:p>
                  </a:txBody>
                  <a:tcPr marL="9525" marR="9525" marT="9525" marB="0" anchor="b"/>
                </a:tc>
                <a:tc>
                  <a:txBody>
                    <a:bodyPr/>
                    <a:lstStyle/>
                    <a:p>
                      <a:pPr algn="l" fontAlgn="b"/>
                      <a:r>
                        <a:rPr lang="en-US" sz="1200" b="1" i="0" u="none" strike="noStrike">
                          <a:solidFill>
                            <a:schemeClr val="tx1"/>
                          </a:solidFill>
                          <a:effectLst/>
                          <a:latin typeface="Segoe UI" panose="020B0502040204020203" pitchFamily="34" charset="0"/>
                        </a:rPr>
                        <a:t>Critical (800-1000)</a:t>
                      </a:r>
                    </a:p>
                  </a:txBody>
                  <a:tcPr marL="9525" marR="9525" marT="9525" marB="0" anchor="b"/>
                </a:tc>
                <a:tc>
                  <a:txBody>
                    <a:bodyPr/>
                    <a:lstStyle/>
                    <a:p>
                      <a:pPr algn="l" fontAlgn="b"/>
                      <a:r>
                        <a:rPr lang="en-US" sz="1200" b="1" i="0" u="none" strike="noStrike">
                          <a:solidFill>
                            <a:schemeClr val="tx1"/>
                          </a:solidFill>
                          <a:effectLst/>
                          <a:latin typeface="Segoe UI" panose="020B0502040204020203" pitchFamily="34" charset="0"/>
                        </a:rPr>
                        <a:t>High (500-799)</a:t>
                      </a:r>
                    </a:p>
                  </a:txBody>
                  <a:tcPr marL="9525" marR="9525" marT="9525" marB="0" anchor="b"/>
                </a:tc>
                <a:tc>
                  <a:txBody>
                    <a:bodyPr/>
                    <a:lstStyle/>
                    <a:p>
                      <a:pPr algn="l" fontAlgn="b"/>
                      <a:r>
                        <a:rPr lang="en-US" sz="1200" b="1" i="0" u="none" strike="noStrike">
                          <a:solidFill>
                            <a:schemeClr val="tx1"/>
                          </a:solidFill>
                          <a:effectLst/>
                          <a:latin typeface="Segoe UI" panose="020B0502040204020203" pitchFamily="34" charset="0"/>
                        </a:rPr>
                        <a:t>Total</a:t>
                      </a:r>
                    </a:p>
                  </a:txBody>
                  <a:tcPr marL="9525" marR="9525" marT="9525" marB="0" anchor="b"/>
                </a:tc>
                <a:extLst>
                  <a:ext uri="{0D108BD9-81ED-4DB2-BD59-A6C34878D82A}">
                    <a16:rowId xmlns:a16="http://schemas.microsoft.com/office/drawing/2014/main" val="1253689825"/>
                  </a:ext>
                </a:extLst>
              </a:tr>
              <a:tr h="204390">
                <a:tc>
                  <a:txBody>
                    <a:bodyPr/>
                    <a:lstStyle/>
                    <a:p>
                      <a:pPr algn="l" fontAlgn="b"/>
                      <a:r>
                        <a:rPr lang="en-US" sz="1000" b="0" i="0" u="none" strike="noStrike" dirty="0">
                          <a:solidFill>
                            <a:schemeClr val="tx1"/>
                          </a:solidFill>
                          <a:effectLst/>
                          <a:latin typeface="Segoe UI" panose="020B0502040204020203" pitchFamily="34" charset="0"/>
                        </a:rPr>
                        <a:t>UNC5537</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0</a:t>
                      </a:r>
                    </a:p>
                  </a:txBody>
                  <a:tcPr marL="9525" marR="9525" marT="9525" marB="0" anchor="b"/>
                </a:tc>
                <a:tc>
                  <a:txBody>
                    <a:bodyPr/>
                    <a:lstStyle/>
                    <a:p>
                      <a:pPr algn="l" fontAlgn="b"/>
                      <a:r>
                        <a:rPr lang="en-US" sz="1000" b="0" i="0" u="none" strike="noStrike" dirty="0">
                          <a:solidFill>
                            <a:schemeClr val="tx1"/>
                          </a:solidFill>
                          <a:effectLst/>
                          <a:latin typeface="Segoe UI" panose="020B0502040204020203" pitchFamily="34" charset="0"/>
                        </a:rPr>
                        <a:t>16</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16</a:t>
                      </a:r>
                    </a:p>
                  </a:txBody>
                  <a:tcPr marL="9525" marR="9525" marT="9525" marB="0" anchor="b"/>
                </a:tc>
                <a:extLst>
                  <a:ext uri="{0D108BD9-81ED-4DB2-BD59-A6C34878D82A}">
                    <a16:rowId xmlns:a16="http://schemas.microsoft.com/office/drawing/2014/main" val="1963606548"/>
                  </a:ext>
                </a:extLst>
              </a:tr>
              <a:tr h="204390">
                <a:tc>
                  <a:txBody>
                    <a:bodyPr/>
                    <a:lstStyle/>
                    <a:p>
                      <a:pPr algn="l" fontAlgn="b"/>
                      <a:r>
                        <a:rPr lang="en-US" sz="1000" b="0" i="0" u="none" strike="noStrike">
                          <a:solidFill>
                            <a:schemeClr val="tx1"/>
                          </a:solidFill>
                          <a:effectLst/>
                          <a:latin typeface="Segoe UI" panose="020B0502040204020203" pitchFamily="34" charset="0"/>
                        </a:rPr>
                        <a:t>Scattered Spider</a:t>
                      </a:r>
                    </a:p>
                  </a:txBody>
                  <a:tcPr marL="9525" marR="9525" marT="9525" marB="0" anchor="b"/>
                </a:tc>
                <a:tc>
                  <a:txBody>
                    <a:bodyPr/>
                    <a:lstStyle/>
                    <a:p>
                      <a:pPr algn="l" fontAlgn="b"/>
                      <a:r>
                        <a:rPr lang="en-US" sz="1000" b="0" i="0" u="none" strike="noStrike" dirty="0">
                          <a:solidFill>
                            <a:schemeClr val="tx1"/>
                          </a:solidFill>
                          <a:effectLst/>
                          <a:latin typeface="Segoe UI" panose="020B0502040204020203" pitchFamily="34" charset="0"/>
                        </a:rPr>
                        <a:t>0</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5</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5</a:t>
                      </a:r>
                    </a:p>
                  </a:txBody>
                  <a:tcPr marL="9525" marR="9525" marT="9525" marB="0" anchor="b"/>
                </a:tc>
                <a:extLst>
                  <a:ext uri="{0D108BD9-81ED-4DB2-BD59-A6C34878D82A}">
                    <a16:rowId xmlns:a16="http://schemas.microsoft.com/office/drawing/2014/main" val="1209156085"/>
                  </a:ext>
                </a:extLst>
              </a:tr>
              <a:tr h="204390">
                <a:tc>
                  <a:txBody>
                    <a:bodyPr/>
                    <a:lstStyle/>
                    <a:p>
                      <a:pPr algn="l" fontAlgn="b"/>
                      <a:r>
                        <a:rPr lang="en-US" sz="1000" b="0" i="0" u="none" strike="noStrike">
                          <a:solidFill>
                            <a:schemeClr val="tx1"/>
                          </a:solidFill>
                          <a:effectLst/>
                          <a:latin typeface="Segoe UI" panose="020B0502040204020203" pitchFamily="34" charset="0"/>
                        </a:rPr>
                        <a:t>Cozy Bear</a:t>
                      </a:r>
                    </a:p>
                  </a:txBody>
                  <a:tcPr marL="9525" marR="9525" marT="9525" marB="0" anchor="b"/>
                </a:tc>
                <a:tc>
                  <a:txBody>
                    <a:bodyPr/>
                    <a:lstStyle/>
                    <a:p>
                      <a:pPr algn="l" fontAlgn="b"/>
                      <a:r>
                        <a:rPr lang="en-US" sz="1000" b="0" i="0" u="none" strike="noStrike" dirty="0">
                          <a:solidFill>
                            <a:schemeClr val="tx1"/>
                          </a:solidFill>
                          <a:effectLst/>
                          <a:latin typeface="Segoe UI" panose="020B0502040204020203" pitchFamily="34" charset="0"/>
                        </a:rPr>
                        <a:t>2</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3</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5</a:t>
                      </a:r>
                    </a:p>
                  </a:txBody>
                  <a:tcPr marL="9525" marR="9525" marT="9525" marB="0" anchor="b"/>
                </a:tc>
                <a:extLst>
                  <a:ext uri="{0D108BD9-81ED-4DB2-BD59-A6C34878D82A}">
                    <a16:rowId xmlns:a16="http://schemas.microsoft.com/office/drawing/2014/main" val="748169239"/>
                  </a:ext>
                </a:extLst>
              </a:tr>
              <a:tr h="204390">
                <a:tc>
                  <a:txBody>
                    <a:bodyPr/>
                    <a:lstStyle/>
                    <a:p>
                      <a:pPr algn="l" fontAlgn="b"/>
                      <a:r>
                        <a:rPr lang="en-US" sz="1000" b="0" i="0" u="none" strike="noStrike">
                          <a:solidFill>
                            <a:schemeClr val="tx1"/>
                          </a:solidFill>
                          <a:effectLst/>
                          <a:latin typeface="Segoe UI" panose="020B0502040204020203" pitchFamily="34" charset="0"/>
                        </a:rPr>
                        <a:t>Fancy Bear</a:t>
                      </a:r>
                    </a:p>
                  </a:txBody>
                  <a:tcPr marL="9525" marR="9525" marT="9525" marB="0" anchor="b"/>
                </a:tc>
                <a:tc>
                  <a:txBody>
                    <a:bodyPr/>
                    <a:lstStyle/>
                    <a:p>
                      <a:pPr algn="l" fontAlgn="b"/>
                      <a:r>
                        <a:rPr lang="en-US" sz="1000" b="0" i="0" u="none" strike="noStrike" dirty="0">
                          <a:solidFill>
                            <a:schemeClr val="tx1"/>
                          </a:solidFill>
                          <a:effectLst/>
                          <a:latin typeface="Segoe UI" panose="020B0502040204020203" pitchFamily="34" charset="0"/>
                        </a:rPr>
                        <a:t>2</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2</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4</a:t>
                      </a:r>
                    </a:p>
                  </a:txBody>
                  <a:tcPr marL="9525" marR="9525" marT="9525" marB="0" anchor="b"/>
                </a:tc>
                <a:extLst>
                  <a:ext uri="{0D108BD9-81ED-4DB2-BD59-A6C34878D82A}">
                    <a16:rowId xmlns:a16="http://schemas.microsoft.com/office/drawing/2014/main" val="1890670500"/>
                  </a:ext>
                </a:extLst>
              </a:tr>
              <a:tr h="204390">
                <a:tc>
                  <a:txBody>
                    <a:bodyPr/>
                    <a:lstStyle/>
                    <a:p>
                      <a:pPr algn="l" fontAlgn="b"/>
                      <a:r>
                        <a:rPr lang="en-US" sz="1000" b="0" i="0" u="none" strike="noStrike">
                          <a:solidFill>
                            <a:schemeClr val="tx1"/>
                          </a:solidFill>
                          <a:effectLst/>
                          <a:latin typeface="Segoe UI" panose="020B0502040204020203" pitchFamily="34" charset="0"/>
                        </a:rPr>
                        <a:t>Salt Typhoon</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2</a:t>
                      </a:r>
                    </a:p>
                  </a:txBody>
                  <a:tcPr marL="9525" marR="9525" marT="9525" marB="0" anchor="b"/>
                </a:tc>
                <a:tc>
                  <a:txBody>
                    <a:bodyPr/>
                    <a:lstStyle/>
                    <a:p>
                      <a:pPr algn="l" fontAlgn="b"/>
                      <a:r>
                        <a:rPr lang="en-US" sz="1000" b="0" i="0" u="none" strike="noStrike" dirty="0">
                          <a:solidFill>
                            <a:schemeClr val="tx1"/>
                          </a:solidFill>
                          <a:effectLst/>
                          <a:latin typeface="Segoe UI" panose="020B0502040204020203" pitchFamily="34" charset="0"/>
                        </a:rPr>
                        <a:t>0</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2</a:t>
                      </a:r>
                    </a:p>
                  </a:txBody>
                  <a:tcPr marL="9525" marR="9525" marT="9525" marB="0" anchor="b"/>
                </a:tc>
                <a:extLst>
                  <a:ext uri="{0D108BD9-81ED-4DB2-BD59-A6C34878D82A}">
                    <a16:rowId xmlns:a16="http://schemas.microsoft.com/office/drawing/2014/main" val="4136922716"/>
                  </a:ext>
                </a:extLst>
              </a:tr>
              <a:tr h="204390">
                <a:tc>
                  <a:txBody>
                    <a:bodyPr/>
                    <a:lstStyle/>
                    <a:p>
                      <a:pPr algn="l" fontAlgn="b"/>
                      <a:r>
                        <a:rPr lang="en-US" sz="1000" b="0" i="0" u="none" strike="noStrike">
                          <a:solidFill>
                            <a:schemeClr val="tx1"/>
                          </a:solidFill>
                          <a:effectLst/>
                          <a:latin typeface="Segoe UI" panose="020B0502040204020203" pitchFamily="34" charset="0"/>
                        </a:rPr>
                        <a:t>UNC5807</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2</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0</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2</a:t>
                      </a:r>
                    </a:p>
                  </a:txBody>
                  <a:tcPr marL="9525" marR="9525" marT="9525" marB="0" anchor="b"/>
                </a:tc>
                <a:extLst>
                  <a:ext uri="{0D108BD9-81ED-4DB2-BD59-A6C34878D82A}">
                    <a16:rowId xmlns:a16="http://schemas.microsoft.com/office/drawing/2014/main" val="2553255428"/>
                  </a:ext>
                </a:extLst>
              </a:tr>
              <a:tr h="204390">
                <a:tc>
                  <a:txBody>
                    <a:bodyPr/>
                    <a:lstStyle/>
                    <a:p>
                      <a:pPr algn="l" fontAlgn="b"/>
                      <a:r>
                        <a:rPr lang="en-US" sz="1000" b="0" i="0" u="none" strike="noStrike">
                          <a:solidFill>
                            <a:schemeClr val="tx1"/>
                          </a:solidFill>
                          <a:effectLst/>
                          <a:latin typeface="Segoe UI" panose="020B0502040204020203" pitchFamily="34" charset="0"/>
                        </a:rPr>
                        <a:t>Volt Typhoon</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2</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0</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2</a:t>
                      </a:r>
                    </a:p>
                  </a:txBody>
                  <a:tcPr marL="9525" marR="9525" marT="9525" marB="0" anchor="b"/>
                </a:tc>
                <a:extLst>
                  <a:ext uri="{0D108BD9-81ED-4DB2-BD59-A6C34878D82A}">
                    <a16:rowId xmlns:a16="http://schemas.microsoft.com/office/drawing/2014/main" val="3790762885"/>
                  </a:ext>
                </a:extLst>
              </a:tr>
              <a:tr h="204390">
                <a:tc>
                  <a:txBody>
                    <a:bodyPr/>
                    <a:lstStyle/>
                    <a:p>
                      <a:pPr algn="l" fontAlgn="b"/>
                      <a:r>
                        <a:rPr lang="en-US" sz="1000" b="0" i="0" u="none" strike="noStrike">
                          <a:solidFill>
                            <a:schemeClr val="tx1"/>
                          </a:solidFill>
                          <a:effectLst/>
                          <a:latin typeface="Segoe UI" panose="020B0502040204020203" pitchFamily="34" charset="0"/>
                        </a:rPr>
                        <a:t>Comment Panda</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2</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0</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2</a:t>
                      </a:r>
                    </a:p>
                  </a:txBody>
                  <a:tcPr marL="9525" marR="9525" marT="9525" marB="0" anchor="b"/>
                </a:tc>
                <a:extLst>
                  <a:ext uri="{0D108BD9-81ED-4DB2-BD59-A6C34878D82A}">
                    <a16:rowId xmlns:a16="http://schemas.microsoft.com/office/drawing/2014/main" val="3781151142"/>
                  </a:ext>
                </a:extLst>
              </a:tr>
              <a:tr h="204390">
                <a:tc>
                  <a:txBody>
                    <a:bodyPr/>
                    <a:lstStyle/>
                    <a:p>
                      <a:pPr algn="l" fontAlgn="b"/>
                      <a:r>
                        <a:rPr lang="en-US" sz="1000" b="0" i="0" u="none" strike="noStrike">
                          <a:solidFill>
                            <a:schemeClr val="tx1"/>
                          </a:solidFill>
                          <a:effectLst/>
                          <a:latin typeface="Segoe UI" panose="020B0502040204020203" pitchFamily="34" charset="0"/>
                        </a:rPr>
                        <a:t>Charming Kitten</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0</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1</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1</a:t>
                      </a:r>
                    </a:p>
                  </a:txBody>
                  <a:tcPr marL="9525" marR="9525" marT="9525" marB="0" anchor="b"/>
                </a:tc>
                <a:extLst>
                  <a:ext uri="{0D108BD9-81ED-4DB2-BD59-A6C34878D82A}">
                    <a16:rowId xmlns:a16="http://schemas.microsoft.com/office/drawing/2014/main" val="260771232"/>
                  </a:ext>
                </a:extLst>
              </a:tr>
              <a:tr h="204390">
                <a:tc>
                  <a:txBody>
                    <a:bodyPr/>
                    <a:lstStyle/>
                    <a:p>
                      <a:pPr algn="l" fontAlgn="b"/>
                      <a:r>
                        <a:rPr lang="en-US" sz="1000" b="0" i="0" u="none" strike="noStrike">
                          <a:solidFill>
                            <a:schemeClr val="tx1"/>
                          </a:solidFill>
                          <a:effectLst/>
                          <a:latin typeface="Segoe UI" panose="020B0502040204020203" pitchFamily="34" charset="0"/>
                        </a:rPr>
                        <a:t>Seashell Blizzard</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1</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0</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1</a:t>
                      </a:r>
                    </a:p>
                  </a:txBody>
                  <a:tcPr marL="9525" marR="9525" marT="9525" marB="0" anchor="b"/>
                </a:tc>
                <a:extLst>
                  <a:ext uri="{0D108BD9-81ED-4DB2-BD59-A6C34878D82A}">
                    <a16:rowId xmlns:a16="http://schemas.microsoft.com/office/drawing/2014/main" val="2123829481"/>
                  </a:ext>
                </a:extLst>
              </a:tr>
              <a:tr h="204390">
                <a:tc>
                  <a:txBody>
                    <a:bodyPr/>
                    <a:lstStyle/>
                    <a:p>
                      <a:pPr algn="l" fontAlgn="b"/>
                      <a:r>
                        <a:rPr lang="en-US" sz="1000" b="0" i="0" u="none" strike="noStrike">
                          <a:solidFill>
                            <a:schemeClr val="tx1"/>
                          </a:solidFill>
                          <a:effectLst/>
                          <a:latin typeface="Segoe UI" panose="020B0502040204020203" pitchFamily="34" charset="0"/>
                        </a:rPr>
                        <a:t>RedNovember</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1</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0</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1</a:t>
                      </a:r>
                    </a:p>
                  </a:txBody>
                  <a:tcPr marL="9525" marR="9525" marT="9525" marB="0" anchor="b"/>
                </a:tc>
                <a:extLst>
                  <a:ext uri="{0D108BD9-81ED-4DB2-BD59-A6C34878D82A}">
                    <a16:rowId xmlns:a16="http://schemas.microsoft.com/office/drawing/2014/main" val="674640962"/>
                  </a:ext>
                </a:extLst>
              </a:tr>
              <a:tr h="500482">
                <a:tc>
                  <a:txBody>
                    <a:bodyPr/>
                    <a:lstStyle/>
                    <a:p>
                      <a:pPr algn="l" fontAlgn="b"/>
                      <a:r>
                        <a:rPr lang="en-US" sz="1000" b="0" i="0" u="none" strike="noStrike">
                          <a:solidFill>
                            <a:schemeClr val="tx1"/>
                          </a:solidFill>
                          <a:effectLst/>
                          <a:latin typeface="Segoe UI" panose="020B0502040204020203" pitchFamily="34" charset="0"/>
                        </a:rPr>
                        <a:t>Play Ransomware Group</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0</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1</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1</a:t>
                      </a:r>
                    </a:p>
                  </a:txBody>
                  <a:tcPr marL="9525" marR="9525" marT="9525" marB="0" anchor="b"/>
                </a:tc>
                <a:extLst>
                  <a:ext uri="{0D108BD9-81ED-4DB2-BD59-A6C34878D82A}">
                    <a16:rowId xmlns:a16="http://schemas.microsoft.com/office/drawing/2014/main" val="2384140908"/>
                  </a:ext>
                </a:extLst>
              </a:tr>
              <a:tr h="204390">
                <a:tc>
                  <a:txBody>
                    <a:bodyPr/>
                    <a:lstStyle/>
                    <a:p>
                      <a:pPr algn="l" fontAlgn="b"/>
                      <a:r>
                        <a:rPr lang="en-US" sz="1000" b="0" i="0" u="none" strike="noStrike">
                          <a:solidFill>
                            <a:schemeClr val="tx1"/>
                          </a:solidFill>
                          <a:effectLst/>
                          <a:latin typeface="Segoe UI" panose="020B0502040204020203" pitchFamily="34" charset="0"/>
                        </a:rPr>
                        <a:t>Storm-2077</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1</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0</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1</a:t>
                      </a:r>
                    </a:p>
                  </a:txBody>
                  <a:tcPr marL="9525" marR="9525" marT="9525" marB="0" anchor="b"/>
                </a:tc>
                <a:extLst>
                  <a:ext uri="{0D108BD9-81ED-4DB2-BD59-A6C34878D82A}">
                    <a16:rowId xmlns:a16="http://schemas.microsoft.com/office/drawing/2014/main" val="1711307875"/>
                  </a:ext>
                </a:extLst>
              </a:tr>
              <a:tr h="204390">
                <a:tc>
                  <a:txBody>
                    <a:bodyPr/>
                    <a:lstStyle/>
                    <a:p>
                      <a:pPr algn="l" fontAlgn="b"/>
                      <a:r>
                        <a:rPr lang="en-US" sz="1000" b="0" i="0" u="none" strike="noStrike">
                          <a:solidFill>
                            <a:schemeClr val="tx1"/>
                          </a:solidFill>
                          <a:effectLst/>
                          <a:latin typeface="Segoe UI" panose="020B0502040204020203" pitchFamily="34" charset="0"/>
                        </a:rPr>
                        <a:t>UNC2447</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0</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1</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1</a:t>
                      </a:r>
                    </a:p>
                  </a:txBody>
                  <a:tcPr marL="9525" marR="9525" marT="9525" marB="0" anchor="b"/>
                </a:tc>
                <a:extLst>
                  <a:ext uri="{0D108BD9-81ED-4DB2-BD59-A6C34878D82A}">
                    <a16:rowId xmlns:a16="http://schemas.microsoft.com/office/drawing/2014/main" val="1270187223"/>
                  </a:ext>
                </a:extLst>
              </a:tr>
              <a:tr h="204390">
                <a:tc>
                  <a:txBody>
                    <a:bodyPr/>
                    <a:lstStyle/>
                    <a:p>
                      <a:pPr algn="l" fontAlgn="b"/>
                      <a:r>
                        <a:rPr lang="en-US" sz="1000" b="0" i="0" u="none" strike="noStrike">
                          <a:solidFill>
                            <a:schemeClr val="tx1"/>
                          </a:solidFill>
                          <a:effectLst/>
                          <a:latin typeface="Segoe UI" panose="020B0502040204020203" pitchFamily="34" charset="0"/>
                        </a:rPr>
                        <a:t>TAG-100</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1</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0</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1</a:t>
                      </a:r>
                    </a:p>
                  </a:txBody>
                  <a:tcPr marL="9525" marR="9525" marT="9525" marB="0" anchor="b"/>
                </a:tc>
                <a:extLst>
                  <a:ext uri="{0D108BD9-81ED-4DB2-BD59-A6C34878D82A}">
                    <a16:rowId xmlns:a16="http://schemas.microsoft.com/office/drawing/2014/main" val="2101211992"/>
                  </a:ext>
                </a:extLst>
              </a:tr>
              <a:tr h="337059">
                <a:tc>
                  <a:txBody>
                    <a:bodyPr/>
                    <a:lstStyle/>
                    <a:p>
                      <a:pPr algn="l" fontAlgn="b"/>
                      <a:r>
                        <a:rPr lang="en-US" sz="1000" b="0" i="0" u="none" strike="noStrike">
                          <a:solidFill>
                            <a:schemeClr val="tx1"/>
                          </a:solidFill>
                          <a:effectLst/>
                          <a:latin typeface="Segoe UI" panose="020B0502040204020203" pitchFamily="34" charset="0"/>
                        </a:rPr>
                        <a:t>Strawberry Tempest</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0</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1</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1</a:t>
                      </a:r>
                    </a:p>
                  </a:txBody>
                  <a:tcPr marL="9525" marR="9525" marT="9525" marB="0" anchor="b"/>
                </a:tc>
                <a:extLst>
                  <a:ext uri="{0D108BD9-81ED-4DB2-BD59-A6C34878D82A}">
                    <a16:rowId xmlns:a16="http://schemas.microsoft.com/office/drawing/2014/main" val="3768487722"/>
                  </a:ext>
                </a:extLst>
              </a:tr>
              <a:tr h="204390">
                <a:tc>
                  <a:txBody>
                    <a:bodyPr/>
                    <a:lstStyle/>
                    <a:p>
                      <a:pPr algn="l" fontAlgn="b"/>
                      <a:r>
                        <a:rPr lang="en-US" sz="1000" b="0" i="0" u="none" strike="noStrike">
                          <a:solidFill>
                            <a:schemeClr val="tx1"/>
                          </a:solidFill>
                          <a:effectLst/>
                          <a:latin typeface="Segoe UI" panose="020B0502040204020203" pitchFamily="34" charset="0"/>
                        </a:rPr>
                        <a:t>UNC3973</a:t>
                      </a:r>
                    </a:p>
                  </a:txBody>
                  <a:tcPr marL="9525" marR="9525" marT="9525" marB="0" anchor="b"/>
                </a:tc>
                <a:tc>
                  <a:txBody>
                    <a:bodyPr/>
                    <a:lstStyle/>
                    <a:p>
                      <a:pPr algn="l" fontAlgn="b"/>
                      <a:r>
                        <a:rPr lang="en-US" sz="1000" b="0" i="0" u="none" strike="noStrike" dirty="0">
                          <a:solidFill>
                            <a:schemeClr val="tx1"/>
                          </a:solidFill>
                          <a:effectLst/>
                          <a:latin typeface="Segoe UI" panose="020B0502040204020203" pitchFamily="34" charset="0"/>
                        </a:rPr>
                        <a:t>0</a:t>
                      </a:r>
                    </a:p>
                  </a:txBody>
                  <a:tcPr marL="9525" marR="9525" marT="9525" marB="0" anchor="b"/>
                </a:tc>
                <a:tc>
                  <a:txBody>
                    <a:bodyPr/>
                    <a:lstStyle/>
                    <a:p>
                      <a:pPr algn="l" fontAlgn="b"/>
                      <a:r>
                        <a:rPr lang="en-US" sz="1000" b="0" i="0" u="none" strike="noStrike">
                          <a:solidFill>
                            <a:schemeClr val="tx1"/>
                          </a:solidFill>
                          <a:effectLst/>
                          <a:latin typeface="Segoe UI" panose="020B0502040204020203" pitchFamily="34" charset="0"/>
                        </a:rPr>
                        <a:t>1</a:t>
                      </a:r>
                    </a:p>
                  </a:txBody>
                  <a:tcPr marL="9525" marR="9525" marT="9525" marB="0" anchor="b"/>
                </a:tc>
                <a:tc>
                  <a:txBody>
                    <a:bodyPr/>
                    <a:lstStyle/>
                    <a:p>
                      <a:pPr algn="l" fontAlgn="b"/>
                      <a:r>
                        <a:rPr lang="en-US" sz="1000" b="0" i="0" u="none" strike="noStrike" dirty="0">
                          <a:solidFill>
                            <a:schemeClr val="tx1"/>
                          </a:solidFill>
                          <a:effectLst/>
                          <a:latin typeface="Segoe UI" panose="020B0502040204020203" pitchFamily="34" charset="0"/>
                        </a:rPr>
                        <a:t>1</a:t>
                      </a:r>
                    </a:p>
                  </a:txBody>
                  <a:tcPr marL="9525" marR="9525" marT="9525" marB="0" anchor="b"/>
                </a:tc>
                <a:extLst>
                  <a:ext uri="{0D108BD9-81ED-4DB2-BD59-A6C34878D82A}">
                    <a16:rowId xmlns:a16="http://schemas.microsoft.com/office/drawing/2014/main" val="597508296"/>
                  </a:ext>
                </a:extLst>
              </a:tr>
            </a:tbl>
          </a:graphicData>
        </a:graphic>
      </p:graphicFrame>
    </p:spTree>
    <p:extLst>
      <p:ext uri="{BB962C8B-B14F-4D97-AF65-F5344CB8AC3E}">
        <p14:creationId xmlns:p14="http://schemas.microsoft.com/office/powerpoint/2010/main" val="703372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End</a:t>
            </a:r>
          </a:p>
        </p:txBody>
      </p:sp>
      <p:sp>
        <p:nvSpPr>
          <p:cNvPr id="3" name="Text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362296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Diamond Grid 16x9">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usiness diamond grid presentation (widescreen).potx" id="{B2221865-AD13-4DF0-B68E-BF08E8CC5659}" vid="{BAA0C488-98B6-4F47-8E1C-5C7CD9605F73}"/>
    </a:ext>
  </a:extLst>
</a:theme>
</file>

<file path=ppt/theme/theme2.xml><?xml version="1.0" encoding="utf-8"?>
<a:theme xmlns:a="http://schemas.openxmlformats.org/drawingml/2006/main" name="Office Theme">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Business diamond grid presentation (widescreen)</Template>
  <TotalTime>3353</TotalTime>
  <Words>2068</Words>
  <Application>Microsoft Office PowerPoint</Application>
  <PresentationFormat>Widescreen</PresentationFormat>
  <Paragraphs>416</Paragraphs>
  <Slides>12</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Segoe UI</vt:lpstr>
      <vt:lpstr>Diamond Grid 16x9</vt:lpstr>
      <vt:lpstr>Threat Assessment 30 Day Report</vt:lpstr>
      <vt:lpstr>Why?</vt:lpstr>
      <vt:lpstr>HTOC Scoring Model</vt:lpstr>
      <vt:lpstr>30-day Executive Summary</vt:lpstr>
      <vt:lpstr>Threat Score Distribution</vt:lpstr>
      <vt:lpstr>Recent Activity</vt:lpstr>
      <vt:lpstr>Partner Observation Distribution</vt:lpstr>
      <vt:lpstr>ThreatConnect Score Comparison</vt:lpstr>
      <vt:lpstr>Top 20 Largest Score Difference</vt:lpstr>
      <vt:lpstr>Top 10 Threat Actor Distribution</vt:lpstr>
      <vt:lpstr>Critical &amp; High Threat Actors</vt:lpstr>
      <vt:lpstr>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Jaytlin Askew</dc:creator>
  <cp:lastModifiedBy>Jaytlin Askew</cp:lastModifiedBy>
  <cp:revision>12</cp:revision>
  <dcterms:created xsi:type="dcterms:W3CDTF">2025-12-03T12:14:31Z</dcterms:created>
  <dcterms:modified xsi:type="dcterms:W3CDTF">2025-12-10T17:05:27Z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